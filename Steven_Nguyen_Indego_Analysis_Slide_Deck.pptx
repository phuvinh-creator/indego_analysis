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Glacial Indifference" panose="020B0604020202020204" charset="0"/>
      <p:regular r:id="rId8"/>
    </p:embeddedFont>
    <p:embeddedFont>
      <p:font typeface="Montserrat" panose="00000500000000000000" pitchFamily="2" charset="0"/>
      <p:regular r:id="rId9"/>
    </p:embeddedFont>
    <p:embeddedFont>
      <p:font typeface="Montserrat Bold" panose="00000800000000000000" charset="0"/>
      <p:regular r:id="rId10"/>
    </p:embeddedFont>
    <p:embeddedFont>
      <p:font typeface="Montserrat Bold Italics" panose="020B0604020202020204" charset="0"/>
      <p:regular r:id="rId11"/>
    </p:embeddedFont>
    <p:embeddedFont>
      <p:font typeface="Montserrat Italics"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hyperlink" Target="https://colab.research.google.com/drive/1ijcL3PMj0VX8qmx2O8-CXDOry8Xu8WfV?usp=sharing"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hyperlink" Target="https://colab.research.google.com/drive/1ijcL3PMj0VX8qmx2O8-CXDOry8Xu8WfV?usp=sharing" TargetMode="External"/><Relationship Id="rId4" Type="http://schemas.openxmlformats.org/officeDocument/2006/relationships/image" Target="../media/image5.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hyperlink" Target="https://www.rideindego.com/about/data/" TargetMode="External"/><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colab.research.google.com/drive/1ijcL3PMj0VX8qmx2O8-CXDOry8Xu8WfV?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rot="-5400000">
            <a:off x="5932129" y="-2068871"/>
            <a:ext cx="6423742" cy="18288000"/>
            <a:chOff x="0" y="0"/>
            <a:chExt cx="1691850" cy="4816593"/>
          </a:xfrm>
        </p:grpSpPr>
        <p:sp>
          <p:nvSpPr>
            <p:cNvPr id="4" name="Freeform 4"/>
            <p:cNvSpPr/>
            <p:nvPr/>
          </p:nvSpPr>
          <p:spPr>
            <a:xfrm>
              <a:off x="0" y="0"/>
              <a:ext cx="1691850" cy="4816592"/>
            </a:xfrm>
            <a:custGeom>
              <a:avLst/>
              <a:gdLst/>
              <a:ahLst/>
              <a:cxnLst/>
              <a:rect l="l" t="t" r="r" b="b"/>
              <a:pathLst>
                <a:path w="1691850" h="4816592">
                  <a:moveTo>
                    <a:pt x="0" y="0"/>
                  </a:moveTo>
                  <a:lnTo>
                    <a:pt x="1691850" y="0"/>
                  </a:lnTo>
                  <a:lnTo>
                    <a:pt x="1691850" y="4816592"/>
                  </a:lnTo>
                  <a:lnTo>
                    <a:pt x="0" y="4816592"/>
                  </a:lnTo>
                  <a:close/>
                </a:path>
              </a:pathLst>
            </a:custGeom>
            <a:gradFill rotWithShape="1">
              <a:gsLst>
                <a:gs pos="0">
                  <a:srgbClr val="000000">
                    <a:alpha val="100000"/>
                  </a:srgbClr>
                </a:gs>
                <a:gs pos="100000">
                  <a:srgbClr val="000000">
                    <a:alpha val="0"/>
                  </a:srgbClr>
                </a:gs>
              </a:gsLst>
              <a:lin ang="0"/>
            </a:gradFill>
          </p:spPr>
        </p:sp>
        <p:sp>
          <p:nvSpPr>
            <p:cNvPr id="5" name="TextBox 5"/>
            <p:cNvSpPr txBox="1"/>
            <p:nvPr/>
          </p:nvSpPr>
          <p:spPr>
            <a:xfrm>
              <a:off x="0" y="-38100"/>
              <a:ext cx="1691850" cy="485469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6048086" y="-2068871"/>
            <a:ext cx="6423742" cy="18288000"/>
            <a:chOff x="0" y="0"/>
            <a:chExt cx="1691850" cy="4816593"/>
          </a:xfrm>
        </p:grpSpPr>
        <p:sp>
          <p:nvSpPr>
            <p:cNvPr id="7" name="Freeform 7"/>
            <p:cNvSpPr/>
            <p:nvPr/>
          </p:nvSpPr>
          <p:spPr>
            <a:xfrm>
              <a:off x="0" y="0"/>
              <a:ext cx="1691850" cy="4816592"/>
            </a:xfrm>
            <a:custGeom>
              <a:avLst/>
              <a:gdLst/>
              <a:ahLst/>
              <a:cxnLst/>
              <a:rect l="l" t="t" r="r" b="b"/>
              <a:pathLst>
                <a:path w="1691850" h="4816592">
                  <a:moveTo>
                    <a:pt x="0" y="0"/>
                  </a:moveTo>
                  <a:lnTo>
                    <a:pt x="1691850" y="0"/>
                  </a:lnTo>
                  <a:lnTo>
                    <a:pt x="1691850" y="4816592"/>
                  </a:lnTo>
                  <a:lnTo>
                    <a:pt x="0" y="4816592"/>
                  </a:lnTo>
                  <a:close/>
                </a:path>
              </a:pathLst>
            </a:custGeom>
            <a:gradFill rotWithShape="1">
              <a:gsLst>
                <a:gs pos="0">
                  <a:srgbClr val="000000">
                    <a:alpha val="100000"/>
                  </a:srgbClr>
                </a:gs>
                <a:gs pos="100000">
                  <a:srgbClr val="000000">
                    <a:alpha val="0"/>
                  </a:srgbClr>
                </a:gs>
              </a:gsLst>
              <a:lin ang="0"/>
            </a:gradFill>
          </p:spPr>
        </p:sp>
        <p:sp>
          <p:nvSpPr>
            <p:cNvPr id="8" name="TextBox 8"/>
            <p:cNvSpPr txBox="1"/>
            <p:nvPr/>
          </p:nvSpPr>
          <p:spPr>
            <a:xfrm>
              <a:off x="0" y="-38100"/>
              <a:ext cx="1691850" cy="4854693"/>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8741080" y="5143500"/>
            <a:ext cx="805840" cy="613904"/>
          </a:xfrm>
          <a:custGeom>
            <a:avLst/>
            <a:gdLst/>
            <a:ahLst/>
            <a:cxnLst/>
            <a:rect l="l" t="t" r="r" b="b"/>
            <a:pathLst>
              <a:path w="805840" h="613904">
                <a:moveTo>
                  <a:pt x="0" y="0"/>
                </a:moveTo>
                <a:lnTo>
                  <a:pt x="805840" y="0"/>
                </a:lnTo>
                <a:lnTo>
                  <a:pt x="805840" y="613904"/>
                </a:lnTo>
                <a:lnTo>
                  <a:pt x="0" y="6139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6370165" y="7980300"/>
            <a:ext cx="5547670" cy="264160"/>
          </a:xfrm>
          <a:prstGeom prst="rect">
            <a:avLst/>
          </a:prstGeom>
        </p:spPr>
        <p:txBody>
          <a:bodyPr lIns="0" tIns="0" rIns="0" bIns="0" rtlCol="0" anchor="t">
            <a:spAutoFit/>
          </a:bodyPr>
          <a:lstStyle/>
          <a:p>
            <a:pPr algn="ctr">
              <a:lnSpc>
                <a:spcPts val="2239"/>
              </a:lnSpc>
              <a:spcBef>
                <a:spcPct val="0"/>
              </a:spcBef>
            </a:pPr>
            <a:r>
              <a:rPr lang="en-US" sz="1599" i="1">
                <a:solidFill>
                  <a:srgbClr val="FFFFFF"/>
                </a:solidFill>
                <a:latin typeface="Montserrat Italics"/>
                <a:ea typeface="Montserrat Italics"/>
                <a:cs typeface="Montserrat Italics"/>
                <a:sym typeface="Montserrat Italics"/>
              </a:rPr>
              <a:t>Growth Solutions for Bike Sharing business </a:t>
            </a:r>
          </a:p>
        </p:txBody>
      </p:sp>
      <p:sp>
        <p:nvSpPr>
          <p:cNvPr id="11" name="TextBox 11"/>
          <p:cNvSpPr txBox="1"/>
          <p:nvPr/>
        </p:nvSpPr>
        <p:spPr>
          <a:xfrm>
            <a:off x="4905982" y="5968592"/>
            <a:ext cx="8707949" cy="1717676"/>
          </a:xfrm>
          <a:prstGeom prst="rect">
            <a:avLst/>
          </a:prstGeom>
        </p:spPr>
        <p:txBody>
          <a:bodyPr lIns="0" tIns="0" rIns="0" bIns="0" rtlCol="0" anchor="t">
            <a:spAutoFit/>
          </a:bodyPr>
          <a:lstStyle/>
          <a:p>
            <a:pPr algn="ctr">
              <a:lnSpc>
                <a:spcPts val="13999"/>
              </a:lnSpc>
              <a:spcBef>
                <a:spcPct val="0"/>
              </a:spcBef>
            </a:pPr>
            <a:r>
              <a:rPr lang="en-US" sz="9999">
                <a:solidFill>
                  <a:srgbClr val="00BF63"/>
                </a:solidFill>
                <a:latin typeface="Glacial Indifference"/>
                <a:ea typeface="Glacial Indifference"/>
                <a:cs typeface="Glacial Indifference"/>
                <a:sym typeface="Glacial Indifference"/>
              </a:rPr>
              <a:t>Indego Analysis</a:t>
            </a:r>
          </a:p>
        </p:txBody>
      </p:sp>
      <p:sp>
        <p:nvSpPr>
          <p:cNvPr id="12" name="TextBox 12"/>
          <p:cNvSpPr txBox="1"/>
          <p:nvPr/>
        </p:nvSpPr>
        <p:spPr>
          <a:xfrm>
            <a:off x="7810560" y="5884137"/>
            <a:ext cx="2666879" cy="540385"/>
          </a:xfrm>
          <a:prstGeom prst="rect">
            <a:avLst/>
          </a:prstGeom>
        </p:spPr>
        <p:txBody>
          <a:bodyPr lIns="0" tIns="0" rIns="0" bIns="0" rtlCol="0" anchor="t">
            <a:spAutoFit/>
          </a:bodyPr>
          <a:lstStyle/>
          <a:p>
            <a:pPr algn="ctr">
              <a:lnSpc>
                <a:spcPts val="2239"/>
              </a:lnSpc>
              <a:spcBef>
                <a:spcPct val="0"/>
              </a:spcBef>
            </a:pPr>
            <a:r>
              <a:rPr lang="en-US" sz="1599">
                <a:solidFill>
                  <a:srgbClr val="FFFFFF"/>
                </a:solidFill>
                <a:latin typeface="Montserrat"/>
                <a:ea typeface="Montserrat"/>
                <a:cs typeface="Montserrat"/>
                <a:sym typeface="Montserrat"/>
              </a:rPr>
              <a:t>Perpay Exercise presentation</a:t>
            </a:r>
          </a:p>
        </p:txBody>
      </p:sp>
      <p:grpSp>
        <p:nvGrpSpPr>
          <p:cNvPr id="13" name="Group 13"/>
          <p:cNvGrpSpPr/>
          <p:nvPr/>
        </p:nvGrpSpPr>
        <p:grpSpPr>
          <a:xfrm>
            <a:off x="8421843" y="8481987"/>
            <a:ext cx="1676228" cy="776313"/>
            <a:chOff x="0" y="0"/>
            <a:chExt cx="2234971" cy="1035084"/>
          </a:xfrm>
        </p:grpSpPr>
        <p:sp>
          <p:nvSpPr>
            <p:cNvPr id="14" name="Freeform 14"/>
            <p:cNvSpPr/>
            <p:nvPr/>
          </p:nvSpPr>
          <p:spPr>
            <a:xfrm>
              <a:off x="1358785" y="79450"/>
              <a:ext cx="876185" cy="876185"/>
            </a:xfrm>
            <a:custGeom>
              <a:avLst/>
              <a:gdLst/>
              <a:ahLst/>
              <a:cxnLst/>
              <a:rect l="l" t="t" r="r" b="b"/>
              <a:pathLst>
                <a:path w="876185" h="876185">
                  <a:moveTo>
                    <a:pt x="0" y="0"/>
                  </a:moveTo>
                  <a:lnTo>
                    <a:pt x="876186" y="0"/>
                  </a:lnTo>
                  <a:lnTo>
                    <a:pt x="876186" y="876185"/>
                  </a:lnTo>
                  <a:lnTo>
                    <a:pt x="0" y="876185"/>
                  </a:lnTo>
                  <a:lnTo>
                    <a:pt x="0" y="0"/>
                  </a:lnTo>
                  <a:close/>
                </a:path>
              </a:pathLst>
            </a:custGeom>
            <a:blipFill>
              <a:blip r:embed="rId5"/>
              <a:stretch>
                <a:fillRect/>
              </a:stretch>
            </a:blipFill>
          </p:spPr>
        </p:sp>
        <p:sp>
          <p:nvSpPr>
            <p:cNvPr id="15" name="Freeform 15"/>
            <p:cNvSpPr/>
            <p:nvPr/>
          </p:nvSpPr>
          <p:spPr>
            <a:xfrm>
              <a:off x="0" y="79450"/>
              <a:ext cx="876185" cy="876185"/>
            </a:xfrm>
            <a:custGeom>
              <a:avLst/>
              <a:gdLst/>
              <a:ahLst/>
              <a:cxnLst/>
              <a:rect l="l" t="t" r="r" b="b"/>
              <a:pathLst>
                <a:path w="876185" h="876185">
                  <a:moveTo>
                    <a:pt x="0" y="0"/>
                  </a:moveTo>
                  <a:lnTo>
                    <a:pt x="876185" y="0"/>
                  </a:lnTo>
                  <a:lnTo>
                    <a:pt x="876185" y="876185"/>
                  </a:lnTo>
                  <a:lnTo>
                    <a:pt x="0" y="876185"/>
                  </a:lnTo>
                  <a:lnTo>
                    <a:pt x="0" y="0"/>
                  </a:lnTo>
                  <a:close/>
                </a:path>
              </a:pathLst>
            </a:custGeom>
            <a:blipFill>
              <a:blip r:embed="rId6"/>
              <a:stretch>
                <a:fillRect/>
              </a:stretch>
            </a:blipFill>
          </p:spPr>
        </p:sp>
        <p:sp>
          <p:nvSpPr>
            <p:cNvPr id="16" name="AutoShape 16"/>
            <p:cNvSpPr/>
            <p:nvPr/>
          </p:nvSpPr>
          <p:spPr>
            <a:xfrm flipV="1">
              <a:off x="1117485" y="0"/>
              <a:ext cx="0" cy="1035084"/>
            </a:xfrm>
            <a:prstGeom prst="line">
              <a:avLst/>
            </a:prstGeom>
            <a:ln w="50800" cap="flat">
              <a:solidFill>
                <a:srgbClr val="FFFFFF"/>
              </a:solidFill>
              <a:prstDash val="solid"/>
              <a:headEnd type="none" w="sm" len="sm"/>
              <a:tailEnd type="none" w="sm" len="sm"/>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1028700" y="1721900"/>
            <a:ext cx="9958268" cy="7411302"/>
            <a:chOff x="0" y="0"/>
            <a:chExt cx="2083734" cy="1550790"/>
          </a:xfrm>
        </p:grpSpPr>
        <p:sp>
          <p:nvSpPr>
            <p:cNvPr id="4" name="Freeform 4"/>
            <p:cNvSpPr/>
            <p:nvPr/>
          </p:nvSpPr>
          <p:spPr>
            <a:xfrm>
              <a:off x="0" y="0"/>
              <a:ext cx="2083734" cy="1550790"/>
            </a:xfrm>
            <a:custGeom>
              <a:avLst/>
              <a:gdLst/>
              <a:ahLst/>
              <a:cxnLst/>
              <a:rect l="l" t="t" r="r" b="b"/>
              <a:pathLst>
                <a:path w="2083734" h="1550790">
                  <a:moveTo>
                    <a:pt x="0" y="0"/>
                  </a:moveTo>
                  <a:lnTo>
                    <a:pt x="2083734" y="0"/>
                  </a:lnTo>
                  <a:lnTo>
                    <a:pt x="2083734" y="1550790"/>
                  </a:lnTo>
                  <a:lnTo>
                    <a:pt x="0" y="1550790"/>
                  </a:lnTo>
                  <a:close/>
                </a:path>
              </a:pathLst>
            </a:custGeom>
            <a:solidFill>
              <a:srgbClr val="000000">
                <a:alpha val="0"/>
              </a:srgbClr>
            </a:solidFill>
            <a:ln w="19050" cap="sq">
              <a:solidFill>
                <a:srgbClr val="00BF63"/>
              </a:solidFill>
              <a:prstDash val="solid"/>
              <a:miter/>
            </a:ln>
          </p:spPr>
        </p:sp>
        <p:sp>
          <p:nvSpPr>
            <p:cNvPr id="5" name="TextBox 5"/>
            <p:cNvSpPr txBox="1"/>
            <p:nvPr/>
          </p:nvSpPr>
          <p:spPr>
            <a:xfrm>
              <a:off x="0" y="-28575"/>
              <a:ext cx="2083734" cy="1579365"/>
            </a:xfrm>
            <a:prstGeom prst="rect">
              <a:avLst/>
            </a:prstGeom>
          </p:spPr>
          <p:txBody>
            <a:bodyPr lIns="71374" tIns="71374" rIns="71374" bIns="71374" rtlCol="0" anchor="ctr"/>
            <a:lstStyle/>
            <a:p>
              <a:pPr algn="ctr">
                <a:lnSpc>
                  <a:spcPts val="2239"/>
                </a:lnSpc>
              </a:pPr>
              <a:endParaRPr/>
            </a:p>
          </p:txBody>
        </p:sp>
      </p:grpSp>
      <p:grpSp>
        <p:nvGrpSpPr>
          <p:cNvPr id="6" name="Group 6"/>
          <p:cNvGrpSpPr/>
          <p:nvPr/>
        </p:nvGrpSpPr>
        <p:grpSpPr>
          <a:xfrm>
            <a:off x="1549667" y="2197280"/>
            <a:ext cx="8980372" cy="401255"/>
            <a:chOff x="0" y="0"/>
            <a:chExt cx="11973829" cy="535007"/>
          </a:xfrm>
        </p:grpSpPr>
        <p:sp>
          <p:nvSpPr>
            <p:cNvPr id="7" name="Freeform 7"/>
            <p:cNvSpPr/>
            <p:nvPr/>
          </p:nvSpPr>
          <p:spPr>
            <a:xfrm>
              <a:off x="11294002" y="0"/>
              <a:ext cx="679827" cy="517904"/>
            </a:xfrm>
            <a:custGeom>
              <a:avLst/>
              <a:gdLst/>
              <a:ahLst/>
              <a:cxnLst/>
              <a:rect l="l" t="t" r="r" b="b"/>
              <a:pathLst>
                <a:path w="679827" h="517904">
                  <a:moveTo>
                    <a:pt x="0" y="0"/>
                  </a:moveTo>
                  <a:lnTo>
                    <a:pt x="679827" y="0"/>
                  </a:lnTo>
                  <a:lnTo>
                    <a:pt x="679827" y="517904"/>
                  </a:lnTo>
                  <a:lnTo>
                    <a:pt x="0" y="5179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0" y="-57150"/>
              <a:ext cx="11294002" cy="592157"/>
            </a:xfrm>
            <a:prstGeom prst="rect">
              <a:avLst/>
            </a:prstGeom>
          </p:spPr>
          <p:txBody>
            <a:bodyPr lIns="0" tIns="0" rIns="0" bIns="0" rtlCol="0" anchor="t">
              <a:spAutoFit/>
            </a:bodyPr>
            <a:lstStyle/>
            <a:p>
              <a:pPr algn="l">
                <a:lnSpc>
                  <a:spcPts val="3751"/>
                </a:lnSpc>
                <a:spcBef>
                  <a:spcPct val="0"/>
                </a:spcBef>
              </a:pPr>
              <a:r>
                <a:rPr lang="en-US" sz="2679" b="1" i="1">
                  <a:solidFill>
                    <a:srgbClr val="000000"/>
                  </a:solidFill>
                  <a:latin typeface="Montserrat Bold Italics"/>
                  <a:ea typeface="Montserrat Bold Italics"/>
                  <a:cs typeface="Montserrat Bold Italics"/>
                  <a:sym typeface="Montserrat Bold Italics"/>
                </a:rPr>
                <a:t>Change for better Performance Measurement </a:t>
              </a:r>
            </a:p>
          </p:txBody>
        </p:sp>
      </p:grpSp>
      <p:grpSp>
        <p:nvGrpSpPr>
          <p:cNvPr id="9" name="Group 9"/>
          <p:cNvGrpSpPr/>
          <p:nvPr/>
        </p:nvGrpSpPr>
        <p:grpSpPr>
          <a:xfrm>
            <a:off x="14210452" y="9258300"/>
            <a:ext cx="3903611" cy="776313"/>
            <a:chOff x="0" y="0"/>
            <a:chExt cx="5204815" cy="1035084"/>
          </a:xfrm>
        </p:grpSpPr>
        <p:sp>
          <p:nvSpPr>
            <p:cNvPr id="10" name="Freeform 10"/>
            <p:cNvSpPr/>
            <p:nvPr/>
          </p:nvSpPr>
          <p:spPr>
            <a:xfrm>
              <a:off x="1358785" y="79450"/>
              <a:ext cx="876185" cy="876185"/>
            </a:xfrm>
            <a:custGeom>
              <a:avLst/>
              <a:gdLst/>
              <a:ahLst/>
              <a:cxnLst/>
              <a:rect l="l" t="t" r="r" b="b"/>
              <a:pathLst>
                <a:path w="876185" h="876185">
                  <a:moveTo>
                    <a:pt x="0" y="0"/>
                  </a:moveTo>
                  <a:lnTo>
                    <a:pt x="876186" y="0"/>
                  </a:lnTo>
                  <a:lnTo>
                    <a:pt x="876186" y="876185"/>
                  </a:lnTo>
                  <a:lnTo>
                    <a:pt x="0" y="876185"/>
                  </a:lnTo>
                  <a:lnTo>
                    <a:pt x="0" y="0"/>
                  </a:lnTo>
                  <a:close/>
                </a:path>
              </a:pathLst>
            </a:custGeom>
            <a:blipFill>
              <a:blip r:embed="rId5"/>
              <a:stretch>
                <a:fillRect/>
              </a:stretch>
            </a:blipFill>
          </p:spPr>
        </p:sp>
        <p:sp>
          <p:nvSpPr>
            <p:cNvPr id="11" name="Freeform 11"/>
            <p:cNvSpPr/>
            <p:nvPr/>
          </p:nvSpPr>
          <p:spPr>
            <a:xfrm>
              <a:off x="0" y="79450"/>
              <a:ext cx="876185" cy="876185"/>
            </a:xfrm>
            <a:custGeom>
              <a:avLst/>
              <a:gdLst/>
              <a:ahLst/>
              <a:cxnLst/>
              <a:rect l="l" t="t" r="r" b="b"/>
              <a:pathLst>
                <a:path w="876185" h="876185">
                  <a:moveTo>
                    <a:pt x="0" y="0"/>
                  </a:moveTo>
                  <a:lnTo>
                    <a:pt x="876185" y="0"/>
                  </a:lnTo>
                  <a:lnTo>
                    <a:pt x="876185" y="876185"/>
                  </a:lnTo>
                  <a:lnTo>
                    <a:pt x="0" y="876185"/>
                  </a:lnTo>
                  <a:lnTo>
                    <a:pt x="0" y="0"/>
                  </a:lnTo>
                  <a:close/>
                </a:path>
              </a:pathLst>
            </a:custGeom>
            <a:blipFill>
              <a:blip r:embed="rId6"/>
              <a:stretch>
                <a:fillRect/>
              </a:stretch>
            </a:blipFill>
          </p:spPr>
        </p:sp>
        <p:sp>
          <p:nvSpPr>
            <p:cNvPr id="12" name="TextBox 12"/>
            <p:cNvSpPr txBox="1"/>
            <p:nvPr/>
          </p:nvSpPr>
          <p:spPr>
            <a:xfrm>
              <a:off x="2450871" y="331911"/>
              <a:ext cx="2753944" cy="342688"/>
            </a:xfrm>
            <a:prstGeom prst="rect">
              <a:avLst/>
            </a:prstGeom>
          </p:spPr>
          <p:txBody>
            <a:bodyPr lIns="0" tIns="0" rIns="0" bIns="0" rtlCol="0" anchor="t">
              <a:spAutoFit/>
            </a:bodyPr>
            <a:lstStyle/>
            <a:p>
              <a:pPr algn="just">
                <a:lnSpc>
                  <a:spcPts val="2239"/>
                </a:lnSpc>
                <a:spcBef>
                  <a:spcPct val="0"/>
                </a:spcBef>
              </a:pPr>
              <a:r>
                <a:rPr lang="en-US" sz="1599" b="1">
                  <a:solidFill>
                    <a:srgbClr val="000000"/>
                  </a:solidFill>
                  <a:latin typeface="Montserrat Bold"/>
                  <a:ea typeface="Montserrat Bold"/>
                  <a:cs typeface="Montserrat Bold"/>
                  <a:sym typeface="Montserrat Bold"/>
                </a:rPr>
                <a:t>Philly’s Bike Share </a:t>
              </a:r>
            </a:p>
          </p:txBody>
        </p:sp>
        <p:sp>
          <p:nvSpPr>
            <p:cNvPr id="13" name="AutoShape 13"/>
            <p:cNvSpPr/>
            <p:nvPr/>
          </p:nvSpPr>
          <p:spPr>
            <a:xfrm flipV="1">
              <a:off x="1117485" y="0"/>
              <a:ext cx="0" cy="1035084"/>
            </a:xfrm>
            <a:prstGeom prst="line">
              <a:avLst/>
            </a:prstGeom>
            <a:ln w="50800" cap="flat">
              <a:solidFill>
                <a:srgbClr val="000000"/>
              </a:solidFill>
              <a:prstDash val="solid"/>
              <a:headEnd type="none" w="sm" len="sm"/>
              <a:tailEnd type="none" w="sm" len="sm"/>
            </a:ln>
          </p:spPr>
        </p:sp>
      </p:grpSp>
      <p:sp>
        <p:nvSpPr>
          <p:cNvPr id="14" name="Freeform 14"/>
          <p:cNvSpPr/>
          <p:nvPr/>
        </p:nvSpPr>
        <p:spPr>
          <a:xfrm>
            <a:off x="11425132" y="2326499"/>
            <a:ext cx="6383261" cy="5111793"/>
          </a:xfrm>
          <a:custGeom>
            <a:avLst/>
            <a:gdLst/>
            <a:ahLst/>
            <a:cxnLst/>
            <a:rect l="l" t="t" r="r" b="b"/>
            <a:pathLst>
              <a:path w="6383261" h="5111793">
                <a:moveTo>
                  <a:pt x="0" y="0"/>
                </a:moveTo>
                <a:lnTo>
                  <a:pt x="6383261" y="0"/>
                </a:lnTo>
                <a:lnTo>
                  <a:pt x="6383261" y="5111794"/>
                </a:lnTo>
                <a:lnTo>
                  <a:pt x="0" y="5111794"/>
                </a:lnTo>
                <a:lnTo>
                  <a:pt x="0" y="0"/>
                </a:lnTo>
                <a:close/>
              </a:path>
            </a:pathLst>
          </a:custGeom>
          <a:blipFill>
            <a:blip r:embed="rId7"/>
            <a:stretch>
              <a:fillRect b="-2777"/>
            </a:stretch>
          </a:blipFill>
        </p:spPr>
      </p:sp>
      <p:sp>
        <p:nvSpPr>
          <p:cNvPr id="15" name="TextBox 15"/>
          <p:cNvSpPr txBox="1"/>
          <p:nvPr/>
        </p:nvSpPr>
        <p:spPr>
          <a:xfrm>
            <a:off x="1116430" y="297464"/>
            <a:ext cx="16055139" cy="1054101"/>
          </a:xfrm>
          <a:prstGeom prst="rect">
            <a:avLst/>
          </a:prstGeom>
        </p:spPr>
        <p:txBody>
          <a:bodyPr lIns="0" tIns="0" rIns="0" bIns="0" rtlCol="0" anchor="t">
            <a:spAutoFit/>
          </a:bodyPr>
          <a:lstStyle/>
          <a:p>
            <a:pPr algn="just">
              <a:lnSpc>
                <a:spcPts val="4000"/>
              </a:lnSpc>
            </a:pPr>
            <a:r>
              <a:rPr lang="en-US" sz="4000" spc="84">
                <a:solidFill>
                  <a:srgbClr val="00BF63"/>
                </a:solidFill>
                <a:latin typeface="Glacial Indifference"/>
                <a:ea typeface="Glacial Indifference"/>
                <a:cs typeface="Glacial Indifference"/>
                <a:sym typeface="Glacial Indifference"/>
              </a:rPr>
              <a:t>1. How would you recommend that decision makers quantify the current and recent growth rate of the program?</a:t>
            </a:r>
          </a:p>
        </p:txBody>
      </p:sp>
      <p:sp>
        <p:nvSpPr>
          <p:cNvPr id="16" name="TextBox 16"/>
          <p:cNvSpPr txBox="1"/>
          <p:nvPr/>
        </p:nvSpPr>
        <p:spPr>
          <a:xfrm>
            <a:off x="1549667" y="3157845"/>
            <a:ext cx="8470502" cy="1377663"/>
          </a:xfrm>
          <a:prstGeom prst="rect">
            <a:avLst/>
          </a:prstGeom>
        </p:spPr>
        <p:txBody>
          <a:bodyPr lIns="0" tIns="0" rIns="0" bIns="0" rtlCol="0" anchor="t">
            <a:spAutoFit/>
          </a:bodyPr>
          <a:lstStyle/>
          <a:p>
            <a:pPr algn="l">
              <a:lnSpc>
                <a:spcPts val="2819"/>
              </a:lnSpc>
              <a:spcBef>
                <a:spcPct val="0"/>
              </a:spcBef>
            </a:pPr>
            <a:r>
              <a:rPr lang="en-US" sz="2013">
                <a:solidFill>
                  <a:srgbClr val="000000"/>
                </a:solidFill>
                <a:latin typeface="Montserrat"/>
                <a:ea typeface="Montserrat"/>
                <a:cs typeface="Montserrat"/>
                <a:sym typeface="Montserrat"/>
              </a:rPr>
              <a:t>- The dataset includes some interesting columns like pass holder, duration and type of bike information which can be used further as explanatory variables. Besides, location records are also imperative to identify the volumes of customer in each area.</a:t>
            </a:r>
          </a:p>
        </p:txBody>
      </p:sp>
      <p:sp>
        <p:nvSpPr>
          <p:cNvPr id="17" name="TextBox 17"/>
          <p:cNvSpPr txBox="1"/>
          <p:nvPr/>
        </p:nvSpPr>
        <p:spPr>
          <a:xfrm>
            <a:off x="1549667" y="5097483"/>
            <a:ext cx="8470502" cy="1736211"/>
          </a:xfrm>
          <a:prstGeom prst="rect">
            <a:avLst/>
          </a:prstGeom>
        </p:spPr>
        <p:txBody>
          <a:bodyPr lIns="0" tIns="0" rIns="0" bIns="0" rtlCol="0" anchor="t">
            <a:spAutoFit/>
          </a:bodyPr>
          <a:lstStyle/>
          <a:p>
            <a:pPr algn="l">
              <a:lnSpc>
                <a:spcPts val="2819"/>
              </a:lnSpc>
              <a:spcBef>
                <a:spcPct val="0"/>
              </a:spcBef>
            </a:pPr>
            <a:r>
              <a:rPr lang="en-US" sz="2013">
                <a:solidFill>
                  <a:srgbClr val="000000"/>
                </a:solidFill>
                <a:latin typeface="Montserrat"/>
                <a:ea typeface="Montserrat"/>
                <a:cs typeface="Montserrat"/>
                <a:sym typeface="Montserrat"/>
              </a:rPr>
              <a:t>- What is missing to navigate all of these variable effects on Idego's sharing bike business is </a:t>
            </a:r>
            <a:r>
              <a:rPr lang="en-US" sz="2013" b="1">
                <a:solidFill>
                  <a:srgbClr val="000000"/>
                </a:solidFill>
                <a:latin typeface="Montserrat Bold"/>
                <a:ea typeface="Montserrat Bold"/>
                <a:cs typeface="Montserrat Bold"/>
                <a:sym typeface="Montserrat Bold"/>
              </a:rPr>
              <a:t>revenue </a:t>
            </a:r>
            <a:r>
              <a:rPr lang="en-US" sz="2013">
                <a:solidFill>
                  <a:srgbClr val="000000"/>
                </a:solidFill>
                <a:latin typeface="Montserrat"/>
                <a:ea typeface="Montserrat"/>
                <a:cs typeface="Montserrat"/>
                <a:sym typeface="Montserrat"/>
              </a:rPr>
              <a:t>or a </a:t>
            </a:r>
            <a:r>
              <a:rPr lang="en-US" sz="2013" b="1">
                <a:solidFill>
                  <a:srgbClr val="000000"/>
                </a:solidFill>
                <a:latin typeface="Montserrat Bold"/>
                <a:ea typeface="Montserrat Bold"/>
                <a:cs typeface="Montserrat Bold"/>
                <a:sym typeface="Montserrat Bold"/>
              </a:rPr>
              <a:t>profit conversion</a:t>
            </a:r>
            <a:r>
              <a:rPr lang="en-US" sz="2013">
                <a:solidFill>
                  <a:srgbClr val="000000"/>
                </a:solidFill>
                <a:latin typeface="Montserrat"/>
                <a:ea typeface="Montserrat"/>
                <a:cs typeface="Montserrat"/>
                <a:sym typeface="Montserrat"/>
              </a:rPr>
              <a:t>. This can help explain further potential of each factors that the board will not foresee thanks to more advanced data analysis.</a:t>
            </a:r>
          </a:p>
          <a:p>
            <a:pPr algn="l">
              <a:lnSpc>
                <a:spcPts val="2819"/>
              </a:lnSpc>
              <a:spcBef>
                <a:spcPct val="0"/>
              </a:spcBef>
            </a:pPr>
            <a:endParaRPr lang="en-US" sz="2013">
              <a:solidFill>
                <a:srgbClr val="000000"/>
              </a:solidFill>
              <a:latin typeface="Montserrat"/>
              <a:ea typeface="Montserrat"/>
              <a:cs typeface="Montserrat"/>
              <a:sym typeface="Montserrat"/>
            </a:endParaRPr>
          </a:p>
        </p:txBody>
      </p:sp>
      <p:sp>
        <p:nvSpPr>
          <p:cNvPr id="18" name="TextBox 18"/>
          <p:cNvSpPr txBox="1"/>
          <p:nvPr/>
        </p:nvSpPr>
        <p:spPr>
          <a:xfrm>
            <a:off x="11425132" y="7723724"/>
            <a:ext cx="6383261" cy="796565"/>
          </a:xfrm>
          <a:prstGeom prst="rect">
            <a:avLst/>
          </a:prstGeom>
        </p:spPr>
        <p:txBody>
          <a:bodyPr lIns="0" tIns="0" rIns="0" bIns="0" rtlCol="0" anchor="t">
            <a:spAutoFit/>
          </a:bodyPr>
          <a:lstStyle/>
          <a:p>
            <a:pPr algn="just">
              <a:lnSpc>
                <a:spcPts val="2159"/>
              </a:lnSpc>
            </a:pPr>
            <a:r>
              <a:rPr lang="en-US" sz="1713" i="1" spc="-54">
                <a:solidFill>
                  <a:srgbClr val="000000"/>
                </a:solidFill>
                <a:latin typeface="Montserrat Italics"/>
                <a:ea typeface="Montserrat Italics"/>
                <a:cs typeface="Montserrat Italics"/>
                <a:sym typeface="Montserrat Italics"/>
              </a:rPr>
              <a:t>Missing final quantitative outcome like revenue causing the hardship to evaluate overall development of the business through each variables performance</a:t>
            </a:r>
          </a:p>
        </p:txBody>
      </p:sp>
      <p:sp>
        <p:nvSpPr>
          <p:cNvPr id="19" name="TextBox 19"/>
          <p:cNvSpPr txBox="1"/>
          <p:nvPr/>
        </p:nvSpPr>
        <p:spPr>
          <a:xfrm>
            <a:off x="1549667" y="6990610"/>
            <a:ext cx="8470502" cy="1749072"/>
          </a:xfrm>
          <a:prstGeom prst="rect">
            <a:avLst/>
          </a:prstGeom>
        </p:spPr>
        <p:txBody>
          <a:bodyPr lIns="0" tIns="0" rIns="0" bIns="0" rtlCol="0" anchor="t">
            <a:spAutoFit/>
          </a:bodyPr>
          <a:lstStyle/>
          <a:p>
            <a:pPr algn="l">
              <a:lnSpc>
                <a:spcPts val="2819"/>
              </a:lnSpc>
              <a:spcBef>
                <a:spcPct val="0"/>
              </a:spcBef>
            </a:pPr>
            <a:r>
              <a:rPr lang="en-US" sz="2013">
                <a:solidFill>
                  <a:srgbClr val="000000"/>
                </a:solidFill>
                <a:latin typeface="Montserrat"/>
                <a:ea typeface="Montserrat"/>
                <a:cs typeface="Montserrat"/>
                <a:sym typeface="Montserrat"/>
              </a:rPr>
              <a:t>- Following the picture placed at the rightmost, we have number of trips recorded but we don’t know exactly what how much did Indego make. Where was the revenue come from Pass Holder or Duration ? What was the </a:t>
            </a:r>
            <a:r>
              <a:rPr lang="en-US" sz="2013" b="1">
                <a:solidFill>
                  <a:srgbClr val="000000"/>
                </a:solidFill>
                <a:latin typeface="Montserrat Bold"/>
                <a:ea typeface="Montserrat Bold"/>
                <a:cs typeface="Montserrat Bold"/>
                <a:sym typeface="Montserrat Bold"/>
              </a:rPr>
              <a:t>budget</a:t>
            </a:r>
            <a:r>
              <a:rPr lang="en-US" sz="2013">
                <a:solidFill>
                  <a:srgbClr val="000000"/>
                </a:solidFill>
                <a:latin typeface="Montserrat"/>
                <a:ea typeface="Montserrat"/>
                <a:cs typeface="Montserrat"/>
                <a:sym typeface="Montserrat"/>
              </a:rPr>
              <a:t>?</a:t>
            </a:r>
            <a:r>
              <a:rPr lang="en-US" sz="2013" b="1">
                <a:solidFill>
                  <a:srgbClr val="000000"/>
                </a:solidFill>
                <a:latin typeface="Montserrat Bold"/>
                <a:ea typeface="Montserrat Bold"/>
                <a:cs typeface="Montserrat Bold"/>
                <a:sym typeface="Montserrat Bold"/>
              </a:rPr>
              <a:t>  </a:t>
            </a:r>
            <a:r>
              <a:rPr lang="en-US" sz="2013">
                <a:solidFill>
                  <a:srgbClr val="000000"/>
                </a:solidFill>
                <a:latin typeface="Montserrat"/>
                <a:ea typeface="Montserrat"/>
                <a:cs typeface="Montserrat"/>
                <a:sym typeface="Montserrat"/>
              </a:rPr>
              <a:t>Did the business exceeded the break-even point?</a:t>
            </a:r>
          </a:p>
        </p:txBody>
      </p:sp>
      <p:sp>
        <p:nvSpPr>
          <p:cNvPr id="20" name="TextBox 20"/>
          <p:cNvSpPr txBox="1"/>
          <p:nvPr/>
        </p:nvSpPr>
        <p:spPr>
          <a:xfrm>
            <a:off x="3777958" y="9312724"/>
            <a:ext cx="4013920" cy="721889"/>
          </a:xfrm>
          <a:prstGeom prst="rect">
            <a:avLst/>
          </a:prstGeom>
        </p:spPr>
        <p:txBody>
          <a:bodyPr lIns="0" tIns="0" rIns="0" bIns="0" rtlCol="0" anchor="t">
            <a:spAutoFit/>
          </a:bodyPr>
          <a:lstStyle/>
          <a:p>
            <a:pPr algn="ctr">
              <a:lnSpc>
                <a:spcPts val="1907"/>
              </a:lnSpc>
            </a:pPr>
            <a:r>
              <a:rPr lang="en-US" sz="1513" i="1" spc="-48">
                <a:solidFill>
                  <a:srgbClr val="000000"/>
                </a:solidFill>
                <a:latin typeface="Montserrat Italics"/>
                <a:ea typeface="Montserrat Italics"/>
                <a:cs typeface="Montserrat Italics"/>
                <a:sym typeface="Montserrat Italics"/>
              </a:rPr>
              <a:t>For more columns details please visit: </a:t>
            </a:r>
          </a:p>
          <a:p>
            <a:pPr algn="ctr">
              <a:lnSpc>
                <a:spcPts val="1907"/>
              </a:lnSpc>
            </a:pPr>
            <a:r>
              <a:rPr lang="en-US" sz="1513" i="1" u="sng" spc="-48">
                <a:solidFill>
                  <a:srgbClr val="000000"/>
                </a:solidFill>
                <a:latin typeface="Montserrat Italics"/>
                <a:ea typeface="Montserrat Italics"/>
                <a:cs typeface="Montserrat Italics"/>
                <a:sym typeface="Montserrat Italics"/>
                <a:hlinkClick r:id="rId8" tooltip="https://colab.research.google.com/drive/1ijcL3PMj0VX8qmx2O8-CXDOry8Xu8WfV?usp=sharing"/>
              </a:rPr>
              <a:t>Steven_Nguyen_Indego.ipynb</a:t>
            </a:r>
          </a:p>
          <a:p>
            <a:pPr algn="ctr">
              <a:lnSpc>
                <a:spcPts val="1907"/>
              </a:lnSpc>
            </a:pPr>
            <a:endParaRPr lang="en-US" sz="1513" i="1" u="sng" spc="-48">
              <a:solidFill>
                <a:srgbClr val="000000"/>
              </a:solidFill>
              <a:latin typeface="Montserrat Italics"/>
              <a:ea typeface="Montserrat Italics"/>
              <a:cs typeface="Montserrat Italics"/>
              <a:sym typeface="Montserrat Italics"/>
              <a:hlinkClick r:id="rId8" tooltip="https://colab.research.google.com/drive/1ijcL3PMj0VX8qmx2O8-CXDOry8Xu8WfV?usp=sharing"/>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14210452" y="9258300"/>
            <a:ext cx="3903611" cy="776313"/>
            <a:chOff x="0" y="0"/>
            <a:chExt cx="5204815" cy="1035084"/>
          </a:xfrm>
        </p:grpSpPr>
        <p:sp>
          <p:nvSpPr>
            <p:cNvPr id="4" name="Freeform 4"/>
            <p:cNvSpPr/>
            <p:nvPr/>
          </p:nvSpPr>
          <p:spPr>
            <a:xfrm>
              <a:off x="1358785" y="79450"/>
              <a:ext cx="876185" cy="876185"/>
            </a:xfrm>
            <a:custGeom>
              <a:avLst/>
              <a:gdLst/>
              <a:ahLst/>
              <a:cxnLst/>
              <a:rect l="l" t="t" r="r" b="b"/>
              <a:pathLst>
                <a:path w="876185" h="876185">
                  <a:moveTo>
                    <a:pt x="0" y="0"/>
                  </a:moveTo>
                  <a:lnTo>
                    <a:pt x="876186" y="0"/>
                  </a:lnTo>
                  <a:lnTo>
                    <a:pt x="876186" y="876185"/>
                  </a:lnTo>
                  <a:lnTo>
                    <a:pt x="0" y="876185"/>
                  </a:lnTo>
                  <a:lnTo>
                    <a:pt x="0" y="0"/>
                  </a:lnTo>
                  <a:close/>
                </a:path>
              </a:pathLst>
            </a:custGeom>
            <a:blipFill>
              <a:blip r:embed="rId3"/>
              <a:stretch>
                <a:fillRect/>
              </a:stretch>
            </a:blipFill>
          </p:spPr>
        </p:sp>
        <p:sp>
          <p:nvSpPr>
            <p:cNvPr id="5" name="Freeform 5"/>
            <p:cNvSpPr/>
            <p:nvPr/>
          </p:nvSpPr>
          <p:spPr>
            <a:xfrm>
              <a:off x="0" y="79450"/>
              <a:ext cx="876185" cy="876185"/>
            </a:xfrm>
            <a:custGeom>
              <a:avLst/>
              <a:gdLst/>
              <a:ahLst/>
              <a:cxnLst/>
              <a:rect l="l" t="t" r="r" b="b"/>
              <a:pathLst>
                <a:path w="876185" h="876185">
                  <a:moveTo>
                    <a:pt x="0" y="0"/>
                  </a:moveTo>
                  <a:lnTo>
                    <a:pt x="876185" y="0"/>
                  </a:lnTo>
                  <a:lnTo>
                    <a:pt x="876185" y="876185"/>
                  </a:lnTo>
                  <a:lnTo>
                    <a:pt x="0" y="876185"/>
                  </a:lnTo>
                  <a:lnTo>
                    <a:pt x="0" y="0"/>
                  </a:lnTo>
                  <a:close/>
                </a:path>
              </a:pathLst>
            </a:custGeom>
            <a:blipFill>
              <a:blip r:embed="rId4"/>
              <a:stretch>
                <a:fillRect/>
              </a:stretch>
            </a:blipFill>
          </p:spPr>
        </p:sp>
        <p:sp>
          <p:nvSpPr>
            <p:cNvPr id="6" name="TextBox 6"/>
            <p:cNvSpPr txBox="1"/>
            <p:nvPr/>
          </p:nvSpPr>
          <p:spPr>
            <a:xfrm>
              <a:off x="2450871" y="331911"/>
              <a:ext cx="2753944" cy="342688"/>
            </a:xfrm>
            <a:prstGeom prst="rect">
              <a:avLst/>
            </a:prstGeom>
          </p:spPr>
          <p:txBody>
            <a:bodyPr lIns="0" tIns="0" rIns="0" bIns="0" rtlCol="0" anchor="t">
              <a:spAutoFit/>
            </a:bodyPr>
            <a:lstStyle/>
            <a:p>
              <a:pPr algn="just">
                <a:lnSpc>
                  <a:spcPts val="2239"/>
                </a:lnSpc>
                <a:spcBef>
                  <a:spcPct val="0"/>
                </a:spcBef>
              </a:pPr>
              <a:r>
                <a:rPr lang="en-US" sz="1599" b="1">
                  <a:solidFill>
                    <a:srgbClr val="000000"/>
                  </a:solidFill>
                  <a:latin typeface="Montserrat Bold"/>
                  <a:ea typeface="Montserrat Bold"/>
                  <a:cs typeface="Montserrat Bold"/>
                  <a:sym typeface="Montserrat Bold"/>
                </a:rPr>
                <a:t>Philly’s Bike Share </a:t>
              </a:r>
            </a:p>
          </p:txBody>
        </p:sp>
        <p:sp>
          <p:nvSpPr>
            <p:cNvPr id="7" name="AutoShape 7"/>
            <p:cNvSpPr/>
            <p:nvPr/>
          </p:nvSpPr>
          <p:spPr>
            <a:xfrm flipV="1">
              <a:off x="1117485" y="0"/>
              <a:ext cx="0" cy="1035084"/>
            </a:xfrm>
            <a:prstGeom prst="line">
              <a:avLst/>
            </a:prstGeom>
            <a:ln w="50800" cap="flat">
              <a:solidFill>
                <a:srgbClr val="000000"/>
              </a:solidFill>
              <a:prstDash val="solid"/>
              <a:headEnd type="none" w="sm" len="sm"/>
              <a:tailEnd type="none" w="sm" len="sm"/>
            </a:ln>
          </p:spPr>
        </p:sp>
      </p:grpSp>
      <p:grpSp>
        <p:nvGrpSpPr>
          <p:cNvPr id="8" name="Group 8"/>
          <p:cNvGrpSpPr/>
          <p:nvPr/>
        </p:nvGrpSpPr>
        <p:grpSpPr>
          <a:xfrm>
            <a:off x="1028700" y="1721900"/>
            <a:ext cx="11798996" cy="7411302"/>
            <a:chOff x="0" y="0"/>
            <a:chExt cx="2468900" cy="1550790"/>
          </a:xfrm>
        </p:grpSpPr>
        <p:sp>
          <p:nvSpPr>
            <p:cNvPr id="9" name="Freeform 9"/>
            <p:cNvSpPr/>
            <p:nvPr/>
          </p:nvSpPr>
          <p:spPr>
            <a:xfrm>
              <a:off x="0" y="0"/>
              <a:ext cx="2468900" cy="1550790"/>
            </a:xfrm>
            <a:custGeom>
              <a:avLst/>
              <a:gdLst/>
              <a:ahLst/>
              <a:cxnLst/>
              <a:rect l="l" t="t" r="r" b="b"/>
              <a:pathLst>
                <a:path w="2468900" h="1550790">
                  <a:moveTo>
                    <a:pt x="0" y="0"/>
                  </a:moveTo>
                  <a:lnTo>
                    <a:pt x="2468900" y="0"/>
                  </a:lnTo>
                  <a:lnTo>
                    <a:pt x="2468900" y="1550790"/>
                  </a:lnTo>
                  <a:lnTo>
                    <a:pt x="0" y="1550790"/>
                  </a:lnTo>
                  <a:close/>
                </a:path>
              </a:pathLst>
            </a:custGeom>
            <a:solidFill>
              <a:srgbClr val="000000">
                <a:alpha val="0"/>
              </a:srgbClr>
            </a:solidFill>
            <a:ln w="19050" cap="sq">
              <a:solidFill>
                <a:srgbClr val="00BF63"/>
              </a:solidFill>
              <a:prstDash val="solid"/>
              <a:miter/>
            </a:ln>
          </p:spPr>
        </p:sp>
        <p:sp>
          <p:nvSpPr>
            <p:cNvPr id="10" name="TextBox 10"/>
            <p:cNvSpPr txBox="1"/>
            <p:nvPr/>
          </p:nvSpPr>
          <p:spPr>
            <a:xfrm>
              <a:off x="0" y="-28575"/>
              <a:ext cx="2468900" cy="1579365"/>
            </a:xfrm>
            <a:prstGeom prst="rect">
              <a:avLst/>
            </a:prstGeom>
          </p:spPr>
          <p:txBody>
            <a:bodyPr lIns="71374" tIns="71374" rIns="71374" bIns="71374" rtlCol="0" anchor="ctr"/>
            <a:lstStyle/>
            <a:p>
              <a:pPr algn="ctr">
                <a:lnSpc>
                  <a:spcPts val="2239"/>
                </a:lnSpc>
              </a:pPr>
              <a:endParaRPr/>
            </a:p>
          </p:txBody>
        </p:sp>
      </p:grpSp>
      <p:grpSp>
        <p:nvGrpSpPr>
          <p:cNvPr id="11" name="Group 11"/>
          <p:cNvGrpSpPr/>
          <p:nvPr/>
        </p:nvGrpSpPr>
        <p:grpSpPr>
          <a:xfrm>
            <a:off x="1549667" y="2035209"/>
            <a:ext cx="8007337" cy="401255"/>
            <a:chOff x="0" y="0"/>
            <a:chExt cx="10676449" cy="535007"/>
          </a:xfrm>
        </p:grpSpPr>
        <p:sp>
          <p:nvSpPr>
            <p:cNvPr id="12" name="TextBox 12"/>
            <p:cNvSpPr txBox="1"/>
            <p:nvPr/>
          </p:nvSpPr>
          <p:spPr>
            <a:xfrm>
              <a:off x="0" y="-57150"/>
              <a:ext cx="10676449" cy="592157"/>
            </a:xfrm>
            <a:prstGeom prst="rect">
              <a:avLst/>
            </a:prstGeom>
          </p:spPr>
          <p:txBody>
            <a:bodyPr lIns="0" tIns="0" rIns="0" bIns="0" rtlCol="0" anchor="t">
              <a:spAutoFit/>
            </a:bodyPr>
            <a:lstStyle/>
            <a:p>
              <a:pPr algn="l">
                <a:lnSpc>
                  <a:spcPts val="3751"/>
                </a:lnSpc>
                <a:spcBef>
                  <a:spcPct val="0"/>
                </a:spcBef>
              </a:pPr>
              <a:r>
                <a:rPr lang="en-US" sz="2679" b="1" i="1">
                  <a:solidFill>
                    <a:srgbClr val="000000"/>
                  </a:solidFill>
                  <a:latin typeface="Montserrat Bold Italics"/>
                  <a:ea typeface="Montserrat Bold Italics"/>
                  <a:cs typeface="Montserrat Bold Italics"/>
                  <a:sym typeface="Montserrat Bold Italics"/>
                </a:rPr>
                <a:t>Observations from the program growth </a:t>
              </a:r>
            </a:p>
          </p:txBody>
        </p:sp>
        <p:sp>
          <p:nvSpPr>
            <p:cNvPr id="13" name="Freeform 13"/>
            <p:cNvSpPr/>
            <p:nvPr/>
          </p:nvSpPr>
          <p:spPr>
            <a:xfrm>
              <a:off x="9733869" y="0"/>
              <a:ext cx="679827" cy="517904"/>
            </a:xfrm>
            <a:custGeom>
              <a:avLst/>
              <a:gdLst/>
              <a:ahLst/>
              <a:cxnLst/>
              <a:rect l="l" t="t" r="r" b="b"/>
              <a:pathLst>
                <a:path w="679827" h="517904">
                  <a:moveTo>
                    <a:pt x="0" y="0"/>
                  </a:moveTo>
                  <a:lnTo>
                    <a:pt x="679826" y="0"/>
                  </a:lnTo>
                  <a:lnTo>
                    <a:pt x="679826" y="517904"/>
                  </a:lnTo>
                  <a:lnTo>
                    <a:pt x="0" y="5179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4" name="TextBox 14"/>
          <p:cNvSpPr txBox="1"/>
          <p:nvPr/>
        </p:nvSpPr>
        <p:spPr>
          <a:xfrm>
            <a:off x="1116430" y="297464"/>
            <a:ext cx="16055139" cy="1054101"/>
          </a:xfrm>
          <a:prstGeom prst="rect">
            <a:avLst/>
          </a:prstGeom>
        </p:spPr>
        <p:txBody>
          <a:bodyPr lIns="0" tIns="0" rIns="0" bIns="0" rtlCol="0" anchor="t">
            <a:spAutoFit/>
          </a:bodyPr>
          <a:lstStyle/>
          <a:p>
            <a:pPr algn="just">
              <a:lnSpc>
                <a:spcPts val="4000"/>
              </a:lnSpc>
            </a:pPr>
            <a:r>
              <a:rPr lang="en-US" sz="4000" spc="84">
                <a:solidFill>
                  <a:srgbClr val="00BF63"/>
                </a:solidFill>
                <a:latin typeface="Glacial Indifference"/>
                <a:ea typeface="Glacial Indifference"/>
                <a:cs typeface="Glacial Indifference"/>
                <a:sym typeface="Glacial Indifference"/>
              </a:rPr>
              <a:t>2. Is there any evidence to suggest the program is growing either too slowly or too quickly?</a:t>
            </a:r>
          </a:p>
        </p:txBody>
      </p:sp>
      <p:grpSp>
        <p:nvGrpSpPr>
          <p:cNvPr id="15" name="Group 15"/>
          <p:cNvGrpSpPr/>
          <p:nvPr/>
        </p:nvGrpSpPr>
        <p:grpSpPr>
          <a:xfrm>
            <a:off x="13177400" y="1721900"/>
            <a:ext cx="3934706" cy="3260833"/>
            <a:chOff x="0" y="0"/>
            <a:chExt cx="581116" cy="481592"/>
          </a:xfrm>
        </p:grpSpPr>
        <p:sp>
          <p:nvSpPr>
            <p:cNvPr id="16" name="Freeform 16"/>
            <p:cNvSpPr/>
            <p:nvPr/>
          </p:nvSpPr>
          <p:spPr>
            <a:xfrm>
              <a:off x="0" y="0"/>
              <a:ext cx="581116" cy="481592"/>
            </a:xfrm>
            <a:custGeom>
              <a:avLst/>
              <a:gdLst/>
              <a:ahLst/>
              <a:cxnLst/>
              <a:rect l="l" t="t" r="r" b="b"/>
              <a:pathLst>
                <a:path w="581116" h="481592">
                  <a:moveTo>
                    <a:pt x="0" y="0"/>
                  </a:moveTo>
                  <a:lnTo>
                    <a:pt x="581116" y="0"/>
                  </a:lnTo>
                  <a:lnTo>
                    <a:pt x="581116" y="481592"/>
                  </a:lnTo>
                  <a:lnTo>
                    <a:pt x="0" y="481592"/>
                  </a:lnTo>
                  <a:close/>
                </a:path>
              </a:pathLst>
            </a:custGeom>
            <a:blipFill>
              <a:blip r:embed="rId7"/>
              <a:stretch>
                <a:fillRect l="-13200" r="-10954"/>
              </a:stretch>
            </a:blipFill>
          </p:spPr>
        </p:sp>
      </p:grpSp>
      <p:grpSp>
        <p:nvGrpSpPr>
          <p:cNvPr id="17" name="Group 17"/>
          <p:cNvGrpSpPr/>
          <p:nvPr/>
        </p:nvGrpSpPr>
        <p:grpSpPr>
          <a:xfrm>
            <a:off x="13117938" y="5143500"/>
            <a:ext cx="4053632" cy="3989703"/>
            <a:chOff x="0" y="0"/>
            <a:chExt cx="1022831" cy="1006700"/>
          </a:xfrm>
        </p:grpSpPr>
        <p:sp>
          <p:nvSpPr>
            <p:cNvPr id="18" name="Freeform 18"/>
            <p:cNvSpPr/>
            <p:nvPr/>
          </p:nvSpPr>
          <p:spPr>
            <a:xfrm>
              <a:off x="0" y="0"/>
              <a:ext cx="1022831" cy="1006700"/>
            </a:xfrm>
            <a:custGeom>
              <a:avLst/>
              <a:gdLst/>
              <a:ahLst/>
              <a:cxnLst/>
              <a:rect l="l" t="t" r="r" b="b"/>
              <a:pathLst>
                <a:path w="1022831" h="1006700">
                  <a:moveTo>
                    <a:pt x="0" y="0"/>
                  </a:moveTo>
                  <a:lnTo>
                    <a:pt x="1022831" y="0"/>
                  </a:lnTo>
                  <a:lnTo>
                    <a:pt x="1022831" y="1006700"/>
                  </a:lnTo>
                  <a:lnTo>
                    <a:pt x="0" y="1006700"/>
                  </a:lnTo>
                  <a:close/>
                </a:path>
              </a:pathLst>
            </a:custGeom>
            <a:blipFill>
              <a:blip r:embed="rId8"/>
              <a:stretch>
                <a:fillRect l="-23863" r="-23863"/>
              </a:stretch>
            </a:blipFill>
          </p:spPr>
        </p:sp>
      </p:grpSp>
      <p:sp>
        <p:nvSpPr>
          <p:cNvPr id="19" name="Freeform 19"/>
          <p:cNvSpPr/>
          <p:nvPr/>
        </p:nvSpPr>
        <p:spPr>
          <a:xfrm>
            <a:off x="3907413" y="4516413"/>
            <a:ext cx="5138961" cy="4229632"/>
          </a:xfrm>
          <a:custGeom>
            <a:avLst/>
            <a:gdLst/>
            <a:ahLst/>
            <a:cxnLst/>
            <a:rect l="l" t="t" r="r" b="b"/>
            <a:pathLst>
              <a:path w="5138961" h="4229632">
                <a:moveTo>
                  <a:pt x="0" y="0"/>
                </a:moveTo>
                <a:lnTo>
                  <a:pt x="5138961" y="0"/>
                </a:lnTo>
                <a:lnTo>
                  <a:pt x="5138961" y="4229632"/>
                </a:lnTo>
                <a:lnTo>
                  <a:pt x="0" y="4229632"/>
                </a:lnTo>
                <a:lnTo>
                  <a:pt x="0" y="0"/>
                </a:lnTo>
                <a:close/>
              </a:path>
            </a:pathLst>
          </a:custGeom>
          <a:blipFill>
            <a:blip r:embed="rId9"/>
            <a:stretch>
              <a:fillRect/>
            </a:stretch>
          </a:blipFill>
        </p:spPr>
      </p:sp>
      <p:sp>
        <p:nvSpPr>
          <p:cNvPr id="20" name="TextBox 20"/>
          <p:cNvSpPr txBox="1"/>
          <p:nvPr/>
        </p:nvSpPr>
        <p:spPr>
          <a:xfrm>
            <a:off x="1549667" y="2959746"/>
            <a:ext cx="10730605" cy="870867"/>
          </a:xfrm>
          <a:prstGeom prst="rect">
            <a:avLst/>
          </a:prstGeom>
        </p:spPr>
        <p:txBody>
          <a:bodyPr lIns="0" tIns="0" rIns="0" bIns="0" rtlCol="0" anchor="t">
            <a:spAutoFit/>
          </a:bodyPr>
          <a:lstStyle/>
          <a:p>
            <a:pPr algn="just">
              <a:lnSpc>
                <a:spcPts val="2399"/>
              </a:lnSpc>
              <a:spcBef>
                <a:spcPct val="0"/>
              </a:spcBef>
            </a:pPr>
            <a:r>
              <a:rPr lang="en-US" sz="1713">
                <a:solidFill>
                  <a:srgbClr val="000000"/>
                </a:solidFill>
                <a:latin typeface="Montserrat"/>
                <a:ea typeface="Montserrat"/>
                <a:cs typeface="Montserrat"/>
                <a:sym typeface="Montserrat"/>
              </a:rPr>
              <a:t>From observation, the trips made through months have increased from below </a:t>
            </a:r>
            <a:r>
              <a:rPr lang="en-US" sz="1713" b="1">
                <a:solidFill>
                  <a:srgbClr val="000000"/>
                </a:solidFill>
                <a:latin typeface="Montserrat Bold"/>
                <a:ea typeface="Montserrat Bold"/>
                <a:cs typeface="Montserrat Bold"/>
                <a:sym typeface="Montserrat Bold"/>
              </a:rPr>
              <a:t>140,000</a:t>
            </a:r>
            <a:r>
              <a:rPr lang="en-US" sz="1713">
                <a:solidFill>
                  <a:srgbClr val="000000"/>
                </a:solidFill>
                <a:latin typeface="Montserrat"/>
                <a:ea typeface="Montserrat"/>
                <a:cs typeface="Montserrat"/>
                <a:sym typeface="Montserrat"/>
              </a:rPr>
              <a:t> to with nearly </a:t>
            </a:r>
            <a:r>
              <a:rPr lang="en-US" sz="1713" b="1">
                <a:solidFill>
                  <a:srgbClr val="000000"/>
                </a:solidFill>
                <a:latin typeface="Montserrat Bold"/>
                <a:ea typeface="Montserrat Bold"/>
                <a:cs typeface="Montserrat Bold"/>
                <a:sym typeface="Montserrat Bold"/>
              </a:rPr>
              <a:t>170,000</a:t>
            </a:r>
            <a:r>
              <a:rPr lang="en-US" sz="1713">
                <a:solidFill>
                  <a:srgbClr val="000000"/>
                </a:solidFill>
                <a:latin typeface="Montserrat"/>
                <a:ea typeface="Montserrat"/>
                <a:cs typeface="Montserrat"/>
                <a:sym typeface="Montserrat"/>
              </a:rPr>
              <a:t> rides. In the period from August to September, it great skyrocketed to more than </a:t>
            </a:r>
            <a:r>
              <a:rPr lang="en-US" sz="1713" b="1">
                <a:solidFill>
                  <a:srgbClr val="000000"/>
                </a:solidFill>
                <a:latin typeface="Montserrat Bold"/>
                <a:ea typeface="Montserrat Bold"/>
                <a:cs typeface="Montserrat Bold"/>
                <a:sym typeface="Montserrat Bold"/>
              </a:rPr>
              <a:t>15,000</a:t>
            </a:r>
            <a:r>
              <a:rPr lang="en-US" sz="1713">
                <a:solidFill>
                  <a:srgbClr val="000000"/>
                </a:solidFill>
                <a:latin typeface="Montserrat"/>
                <a:ea typeface="Montserrat"/>
                <a:cs typeface="Montserrat"/>
                <a:sym typeface="Montserrat"/>
              </a:rPr>
              <a:t> rides, but from September to October the growth has slowed down to around </a:t>
            </a:r>
            <a:r>
              <a:rPr lang="en-US" sz="1713" b="1">
                <a:solidFill>
                  <a:srgbClr val="000000"/>
                </a:solidFill>
                <a:latin typeface="Montserrat Bold"/>
                <a:ea typeface="Montserrat Bold"/>
                <a:cs typeface="Montserrat Bold"/>
                <a:sym typeface="Montserrat Bold"/>
              </a:rPr>
              <a:t>10,000</a:t>
            </a:r>
            <a:r>
              <a:rPr lang="en-US" sz="1713">
                <a:solidFill>
                  <a:srgbClr val="000000"/>
                </a:solidFill>
                <a:latin typeface="Montserrat"/>
                <a:ea typeface="Montserrat"/>
                <a:cs typeface="Montserrat"/>
                <a:sym typeface="Montserrat"/>
              </a:rPr>
              <a:t> rides</a:t>
            </a:r>
          </a:p>
        </p:txBody>
      </p:sp>
      <p:sp>
        <p:nvSpPr>
          <p:cNvPr id="21" name="TextBox 21"/>
          <p:cNvSpPr txBox="1"/>
          <p:nvPr/>
        </p:nvSpPr>
        <p:spPr>
          <a:xfrm>
            <a:off x="4469933" y="9312724"/>
            <a:ext cx="4013920" cy="721889"/>
          </a:xfrm>
          <a:prstGeom prst="rect">
            <a:avLst/>
          </a:prstGeom>
        </p:spPr>
        <p:txBody>
          <a:bodyPr lIns="0" tIns="0" rIns="0" bIns="0" rtlCol="0" anchor="t">
            <a:spAutoFit/>
          </a:bodyPr>
          <a:lstStyle/>
          <a:p>
            <a:pPr algn="ctr">
              <a:lnSpc>
                <a:spcPts val="1907"/>
              </a:lnSpc>
            </a:pPr>
            <a:r>
              <a:rPr lang="en-US" sz="1513" i="1" spc="-48" dirty="0">
                <a:solidFill>
                  <a:srgbClr val="000000"/>
                </a:solidFill>
                <a:latin typeface="Montserrat Italics"/>
                <a:ea typeface="Montserrat Italics"/>
                <a:cs typeface="Montserrat Italics"/>
                <a:sym typeface="Montserrat Italics"/>
              </a:rPr>
              <a:t>For more EDA details please visit: </a:t>
            </a:r>
          </a:p>
          <a:p>
            <a:pPr algn="ctr">
              <a:lnSpc>
                <a:spcPts val="1907"/>
              </a:lnSpc>
            </a:pPr>
            <a:r>
              <a:rPr lang="en-US" sz="1513" i="1" u="sng" spc="-48" dirty="0" err="1">
                <a:solidFill>
                  <a:srgbClr val="000000"/>
                </a:solidFill>
                <a:latin typeface="Montserrat Italics"/>
                <a:ea typeface="Montserrat Italics"/>
                <a:cs typeface="Montserrat Italics"/>
                <a:sym typeface="Montserrat Italics"/>
                <a:hlinkClick r:id="rId10" tooltip="https://colab.research.google.com/drive/1ijcL3PMj0VX8qmx2O8-CXDOry8Xu8WfV?usp=sharing"/>
              </a:rPr>
              <a:t>Steven_Nguyen_Indego.ipynb</a:t>
            </a:r>
            <a:endParaRPr lang="en-US" sz="1513" i="1" u="sng" spc="-48" dirty="0">
              <a:solidFill>
                <a:srgbClr val="000000"/>
              </a:solidFill>
              <a:latin typeface="Montserrat Italics"/>
              <a:ea typeface="Montserrat Italics"/>
              <a:cs typeface="Montserrat Italics"/>
              <a:sym typeface="Montserrat Italics"/>
              <a:hlinkClick r:id="rId10" tooltip="https://colab.research.google.com/drive/1ijcL3PMj0VX8qmx2O8-CXDOry8Xu8WfV?usp=sharing"/>
            </a:endParaRPr>
          </a:p>
          <a:p>
            <a:pPr algn="ctr">
              <a:lnSpc>
                <a:spcPts val="1907"/>
              </a:lnSpc>
            </a:pPr>
            <a:endParaRPr lang="en-US" sz="1513" i="1" u="sng" spc="-48" dirty="0">
              <a:solidFill>
                <a:srgbClr val="000000"/>
              </a:solidFill>
              <a:latin typeface="Montserrat Italics"/>
              <a:ea typeface="Montserrat Italics"/>
              <a:cs typeface="Montserrat Italics"/>
              <a:sym typeface="Montserrat Italics"/>
              <a:hlinkClick r:id="rId10" tooltip="https://colab.research.google.com/drive/1ijcL3PMj0VX8qmx2O8-CXDOry8Xu8WfV?usp=sharing"/>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14210452" y="9258300"/>
            <a:ext cx="3903611" cy="776313"/>
            <a:chOff x="0" y="0"/>
            <a:chExt cx="5204815" cy="1035084"/>
          </a:xfrm>
        </p:grpSpPr>
        <p:sp>
          <p:nvSpPr>
            <p:cNvPr id="4" name="Freeform 4"/>
            <p:cNvSpPr/>
            <p:nvPr/>
          </p:nvSpPr>
          <p:spPr>
            <a:xfrm>
              <a:off x="1358785" y="79450"/>
              <a:ext cx="876185" cy="876185"/>
            </a:xfrm>
            <a:custGeom>
              <a:avLst/>
              <a:gdLst/>
              <a:ahLst/>
              <a:cxnLst/>
              <a:rect l="l" t="t" r="r" b="b"/>
              <a:pathLst>
                <a:path w="876185" h="876185">
                  <a:moveTo>
                    <a:pt x="0" y="0"/>
                  </a:moveTo>
                  <a:lnTo>
                    <a:pt x="876186" y="0"/>
                  </a:lnTo>
                  <a:lnTo>
                    <a:pt x="876186" y="876185"/>
                  </a:lnTo>
                  <a:lnTo>
                    <a:pt x="0" y="876185"/>
                  </a:lnTo>
                  <a:lnTo>
                    <a:pt x="0" y="0"/>
                  </a:lnTo>
                  <a:close/>
                </a:path>
              </a:pathLst>
            </a:custGeom>
            <a:blipFill>
              <a:blip r:embed="rId3"/>
              <a:stretch>
                <a:fillRect/>
              </a:stretch>
            </a:blipFill>
          </p:spPr>
        </p:sp>
        <p:sp>
          <p:nvSpPr>
            <p:cNvPr id="5" name="Freeform 5"/>
            <p:cNvSpPr/>
            <p:nvPr/>
          </p:nvSpPr>
          <p:spPr>
            <a:xfrm>
              <a:off x="0" y="79450"/>
              <a:ext cx="876185" cy="876185"/>
            </a:xfrm>
            <a:custGeom>
              <a:avLst/>
              <a:gdLst/>
              <a:ahLst/>
              <a:cxnLst/>
              <a:rect l="l" t="t" r="r" b="b"/>
              <a:pathLst>
                <a:path w="876185" h="876185">
                  <a:moveTo>
                    <a:pt x="0" y="0"/>
                  </a:moveTo>
                  <a:lnTo>
                    <a:pt x="876185" y="0"/>
                  </a:lnTo>
                  <a:lnTo>
                    <a:pt x="876185" y="876185"/>
                  </a:lnTo>
                  <a:lnTo>
                    <a:pt x="0" y="876185"/>
                  </a:lnTo>
                  <a:lnTo>
                    <a:pt x="0" y="0"/>
                  </a:lnTo>
                  <a:close/>
                </a:path>
              </a:pathLst>
            </a:custGeom>
            <a:blipFill>
              <a:blip r:embed="rId4"/>
              <a:stretch>
                <a:fillRect/>
              </a:stretch>
            </a:blipFill>
          </p:spPr>
        </p:sp>
        <p:sp>
          <p:nvSpPr>
            <p:cNvPr id="6" name="TextBox 6"/>
            <p:cNvSpPr txBox="1"/>
            <p:nvPr/>
          </p:nvSpPr>
          <p:spPr>
            <a:xfrm>
              <a:off x="2450871" y="331911"/>
              <a:ext cx="2753944" cy="342688"/>
            </a:xfrm>
            <a:prstGeom prst="rect">
              <a:avLst/>
            </a:prstGeom>
          </p:spPr>
          <p:txBody>
            <a:bodyPr lIns="0" tIns="0" rIns="0" bIns="0" rtlCol="0" anchor="t">
              <a:spAutoFit/>
            </a:bodyPr>
            <a:lstStyle/>
            <a:p>
              <a:pPr algn="just">
                <a:lnSpc>
                  <a:spcPts val="2239"/>
                </a:lnSpc>
                <a:spcBef>
                  <a:spcPct val="0"/>
                </a:spcBef>
              </a:pPr>
              <a:r>
                <a:rPr lang="en-US" sz="1599" b="1">
                  <a:solidFill>
                    <a:srgbClr val="000000"/>
                  </a:solidFill>
                  <a:latin typeface="Montserrat Bold"/>
                  <a:ea typeface="Montserrat Bold"/>
                  <a:cs typeface="Montserrat Bold"/>
                  <a:sym typeface="Montserrat Bold"/>
                </a:rPr>
                <a:t>Philly’s Bike Share </a:t>
              </a:r>
            </a:p>
          </p:txBody>
        </p:sp>
        <p:sp>
          <p:nvSpPr>
            <p:cNvPr id="7" name="AutoShape 7"/>
            <p:cNvSpPr/>
            <p:nvPr/>
          </p:nvSpPr>
          <p:spPr>
            <a:xfrm flipV="1">
              <a:off x="1117485" y="0"/>
              <a:ext cx="0" cy="1035084"/>
            </a:xfrm>
            <a:prstGeom prst="line">
              <a:avLst/>
            </a:prstGeom>
            <a:ln w="50800" cap="flat">
              <a:solidFill>
                <a:srgbClr val="000000"/>
              </a:solidFill>
              <a:prstDash val="solid"/>
              <a:headEnd type="none" w="sm" len="sm"/>
              <a:tailEnd type="none" w="sm" len="sm"/>
            </a:ln>
          </p:spPr>
        </p:sp>
      </p:grpSp>
      <p:grpSp>
        <p:nvGrpSpPr>
          <p:cNvPr id="8" name="Group 8"/>
          <p:cNvGrpSpPr/>
          <p:nvPr/>
        </p:nvGrpSpPr>
        <p:grpSpPr>
          <a:xfrm>
            <a:off x="751615" y="1737700"/>
            <a:ext cx="17085363" cy="7411302"/>
            <a:chOff x="0" y="0"/>
            <a:chExt cx="3575054" cy="1550790"/>
          </a:xfrm>
        </p:grpSpPr>
        <p:sp>
          <p:nvSpPr>
            <p:cNvPr id="9" name="Freeform 9"/>
            <p:cNvSpPr/>
            <p:nvPr/>
          </p:nvSpPr>
          <p:spPr>
            <a:xfrm>
              <a:off x="0" y="0"/>
              <a:ext cx="3575054" cy="1550790"/>
            </a:xfrm>
            <a:custGeom>
              <a:avLst/>
              <a:gdLst/>
              <a:ahLst/>
              <a:cxnLst/>
              <a:rect l="l" t="t" r="r" b="b"/>
              <a:pathLst>
                <a:path w="3575054" h="1550790">
                  <a:moveTo>
                    <a:pt x="0" y="0"/>
                  </a:moveTo>
                  <a:lnTo>
                    <a:pt x="3575054" y="0"/>
                  </a:lnTo>
                  <a:lnTo>
                    <a:pt x="3575054" y="1550790"/>
                  </a:lnTo>
                  <a:lnTo>
                    <a:pt x="0" y="1550790"/>
                  </a:lnTo>
                  <a:close/>
                </a:path>
              </a:pathLst>
            </a:custGeom>
            <a:solidFill>
              <a:srgbClr val="000000">
                <a:alpha val="0"/>
              </a:srgbClr>
            </a:solidFill>
            <a:ln w="19050" cap="sq">
              <a:solidFill>
                <a:srgbClr val="00BF63"/>
              </a:solidFill>
              <a:prstDash val="solid"/>
              <a:miter/>
            </a:ln>
          </p:spPr>
        </p:sp>
        <p:sp>
          <p:nvSpPr>
            <p:cNvPr id="10" name="TextBox 10"/>
            <p:cNvSpPr txBox="1"/>
            <p:nvPr/>
          </p:nvSpPr>
          <p:spPr>
            <a:xfrm>
              <a:off x="0" y="-28575"/>
              <a:ext cx="3575054" cy="1579365"/>
            </a:xfrm>
            <a:prstGeom prst="rect">
              <a:avLst/>
            </a:prstGeom>
          </p:spPr>
          <p:txBody>
            <a:bodyPr lIns="71374" tIns="71374" rIns="71374" bIns="71374" rtlCol="0" anchor="ctr"/>
            <a:lstStyle/>
            <a:p>
              <a:pPr algn="ctr">
                <a:lnSpc>
                  <a:spcPts val="2239"/>
                </a:lnSpc>
              </a:pPr>
              <a:endParaRPr/>
            </a:p>
          </p:txBody>
        </p:sp>
      </p:grpSp>
      <p:grpSp>
        <p:nvGrpSpPr>
          <p:cNvPr id="11" name="Group 11"/>
          <p:cNvGrpSpPr/>
          <p:nvPr/>
        </p:nvGrpSpPr>
        <p:grpSpPr>
          <a:xfrm>
            <a:off x="5605813" y="2052453"/>
            <a:ext cx="8007337" cy="401255"/>
            <a:chOff x="0" y="0"/>
            <a:chExt cx="10676449" cy="535007"/>
          </a:xfrm>
        </p:grpSpPr>
        <p:sp>
          <p:nvSpPr>
            <p:cNvPr id="12" name="TextBox 12"/>
            <p:cNvSpPr txBox="1"/>
            <p:nvPr/>
          </p:nvSpPr>
          <p:spPr>
            <a:xfrm>
              <a:off x="0" y="-57150"/>
              <a:ext cx="10676449" cy="592157"/>
            </a:xfrm>
            <a:prstGeom prst="rect">
              <a:avLst/>
            </a:prstGeom>
          </p:spPr>
          <p:txBody>
            <a:bodyPr lIns="0" tIns="0" rIns="0" bIns="0" rtlCol="0" anchor="t">
              <a:spAutoFit/>
            </a:bodyPr>
            <a:lstStyle/>
            <a:p>
              <a:pPr algn="l">
                <a:lnSpc>
                  <a:spcPts val="3751"/>
                </a:lnSpc>
                <a:spcBef>
                  <a:spcPct val="0"/>
                </a:spcBef>
              </a:pPr>
              <a:r>
                <a:rPr lang="en-US" sz="2679" b="1" i="1">
                  <a:solidFill>
                    <a:srgbClr val="000000"/>
                  </a:solidFill>
                  <a:latin typeface="Montserrat Bold Italics"/>
                  <a:ea typeface="Montserrat Bold Italics"/>
                  <a:cs typeface="Montserrat Bold Italics"/>
                  <a:sym typeface="Montserrat Bold Italics"/>
                </a:rPr>
                <a:t>Observations from the program growth </a:t>
              </a:r>
            </a:p>
          </p:txBody>
        </p:sp>
        <p:sp>
          <p:nvSpPr>
            <p:cNvPr id="13" name="Freeform 13"/>
            <p:cNvSpPr/>
            <p:nvPr/>
          </p:nvSpPr>
          <p:spPr>
            <a:xfrm>
              <a:off x="9733869" y="0"/>
              <a:ext cx="679827" cy="517904"/>
            </a:xfrm>
            <a:custGeom>
              <a:avLst/>
              <a:gdLst/>
              <a:ahLst/>
              <a:cxnLst/>
              <a:rect l="l" t="t" r="r" b="b"/>
              <a:pathLst>
                <a:path w="679827" h="517904">
                  <a:moveTo>
                    <a:pt x="0" y="0"/>
                  </a:moveTo>
                  <a:lnTo>
                    <a:pt x="679826" y="0"/>
                  </a:lnTo>
                  <a:lnTo>
                    <a:pt x="679826" y="517904"/>
                  </a:lnTo>
                  <a:lnTo>
                    <a:pt x="0" y="5179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4" name="AutoShape 14"/>
          <p:cNvSpPr/>
          <p:nvPr/>
        </p:nvSpPr>
        <p:spPr>
          <a:xfrm flipV="1">
            <a:off x="9590432" y="2896557"/>
            <a:ext cx="19050" cy="6004748"/>
          </a:xfrm>
          <a:prstGeom prst="line">
            <a:avLst/>
          </a:prstGeom>
          <a:ln w="38100" cap="flat">
            <a:solidFill>
              <a:srgbClr val="000000"/>
            </a:solidFill>
            <a:prstDash val="solid"/>
            <a:headEnd type="none" w="sm" len="sm"/>
            <a:tailEnd type="none" w="sm" len="sm"/>
          </a:ln>
        </p:spPr>
      </p:sp>
      <p:sp>
        <p:nvSpPr>
          <p:cNvPr id="15" name="Freeform 15"/>
          <p:cNvSpPr/>
          <p:nvPr/>
        </p:nvSpPr>
        <p:spPr>
          <a:xfrm>
            <a:off x="3312264" y="5443351"/>
            <a:ext cx="3886921" cy="3028183"/>
          </a:xfrm>
          <a:custGeom>
            <a:avLst/>
            <a:gdLst/>
            <a:ahLst/>
            <a:cxnLst/>
            <a:rect l="l" t="t" r="r" b="b"/>
            <a:pathLst>
              <a:path w="3886921" h="3028183">
                <a:moveTo>
                  <a:pt x="0" y="0"/>
                </a:moveTo>
                <a:lnTo>
                  <a:pt x="3886921" y="0"/>
                </a:lnTo>
                <a:lnTo>
                  <a:pt x="3886921" y="3028183"/>
                </a:lnTo>
                <a:lnTo>
                  <a:pt x="0" y="3028183"/>
                </a:lnTo>
                <a:lnTo>
                  <a:pt x="0" y="0"/>
                </a:lnTo>
                <a:close/>
              </a:path>
            </a:pathLst>
          </a:custGeom>
          <a:blipFill>
            <a:blip r:embed="rId7"/>
            <a:stretch>
              <a:fillRect/>
            </a:stretch>
          </a:blipFill>
        </p:spPr>
      </p:sp>
      <p:sp>
        <p:nvSpPr>
          <p:cNvPr id="16" name="Freeform 16"/>
          <p:cNvSpPr/>
          <p:nvPr/>
        </p:nvSpPr>
        <p:spPr>
          <a:xfrm>
            <a:off x="10228012" y="5658237"/>
            <a:ext cx="3385138" cy="2598412"/>
          </a:xfrm>
          <a:custGeom>
            <a:avLst/>
            <a:gdLst/>
            <a:ahLst/>
            <a:cxnLst/>
            <a:rect l="l" t="t" r="r" b="b"/>
            <a:pathLst>
              <a:path w="3385138" h="2598412">
                <a:moveTo>
                  <a:pt x="0" y="0"/>
                </a:moveTo>
                <a:lnTo>
                  <a:pt x="3385138" y="0"/>
                </a:lnTo>
                <a:lnTo>
                  <a:pt x="3385138" y="2598412"/>
                </a:lnTo>
                <a:lnTo>
                  <a:pt x="0" y="2598412"/>
                </a:lnTo>
                <a:lnTo>
                  <a:pt x="0" y="0"/>
                </a:lnTo>
                <a:close/>
              </a:path>
            </a:pathLst>
          </a:custGeom>
          <a:blipFill>
            <a:blip r:embed="rId8"/>
            <a:stretch>
              <a:fillRect/>
            </a:stretch>
          </a:blipFill>
        </p:spPr>
      </p:sp>
      <p:sp>
        <p:nvSpPr>
          <p:cNvPr id="17" name="Freeform 17"/>
          <p:cNvSpPr/>
          <p:nvPr/>
        </p:nvSpPr>
        <p:spPr>
          <a:xfrm>
            <a:off x="14079769" y="6194120"/>
            <a:ext cx="2961118" cy="2013560"/>
          </a:xfrm>
          <a:custGeom>
            <a:avLst/>
            <a:gdLst/>
            <a:ahLst/>
            <a:cxnLst/>
            <a:rect l="l" t="t" r="r" b="b"/>
            <a:pathLst>
              <a:path w="2961118" h="2013560">
                <a:moveTo>
                  <a:pt x="0" y="0"/>
                </a:moveTo>
                <a:lnTo>
                  <a:pt x="2961118" y="0"/>
                </a:lnTo>
                <a:lnTo>
                  <a:pt x="2961118" y="2013560"/>
                </a:lnTo>
                <a:lnTo>
                  <a:pt x="0" y="2013560"/>
                </a:lnTo>
                <a:lnTo>
                  <a:pt x="0" y="0"/>
                </a:lnTo>
                <a:close/>
              </a:path>
            </a:pathLst>
          </a:custGeom>
          <a:blipFill>
            <a:blip r:embed="rId9"/>
            <a:stretch>
              <a:fillRect/>
            </a:stretch>
          </a:blipFill>
        </p:spPr>
      </p:sp>
      <p:sp>
        <p:nvSpPr>
          <p:cNvPr id="18" name="TextBox 18"/>
          <p:cNvSpPr txBox="1"/>
          <p:nvPr/>
        </p:nvSpPr>
        <p:spPr>
          <a:xfrm>
            <a:off x="1116430" y="297464"/>
            <a:ext cx="16055139" cy="1054101"/>
          </a:xfrm>
          <a:prstGeom prst="rect">
            <a:avLst/>
          </a:prstGeom>
        </p:spPr>
        <p:txBody>
          <a:bodyPr lIns="0" tIns="0" rIns="0" bIns="0" rtlCol="0" anchor="t">
            <a:spAutoFit/>
          </a:bodyPr>
          <a:lstStyle/>
          <a:p>
            <a:pPr algn="just">
              <a:lnSpc>
                <a:spcPts val="4000"/>
              </a:lnSpc>
            </a:pPr>
            <a:r>
              <a:rPr lang="en-US" sz="4000" spc="84">
                <a:solidFill>
                  <a:srgbClr val="00BF63"/>
                </a:solidFill>
                <a:latin typeface="Glacial Indifference"/>
                <a:ea typeface="Glacial Indifference"/>
                <a:cs typeface="Glacial Indifference"/>
                <a:sym typeface="Glacial Indifference"/>
              </a:rPr>
              <a:t>2. Is there any evidence to suggest the program is growing either too slowly or too quickly?</a:t>
            </a:r>
          </a:p>
        </p:txBody>
      </p:sp>
      <p:sp>
        <p:nvSpPr>
          <p:cNvPr id="19" name="TextBox 19"/>
          <p:cNvSpPr txBox="1"/>
          <p:nvPr/>
        </p:nvSpPr>
        <p:spPr>
          <a:xfrm>
            <a:off x="10025227" y="3091533"/>
            <a:ext cx="7594333" cy="2051967"/>
          </a:xfrm>
          <a:prstGeom prst="rect">
            <a:avLst/>
          </a:prstGeom>
        </p:spPr>
        <p:txBody>
          <a:bodyPr lIns="0" tIns="0" rIns="0" bIns="0" rtlCol="0" anchor="t">
            <a:spAutoFit/>
          </a:bodyPr>
          <a:lstStyle/>
          <a:p>
            <a:pPr algn="just">
              <a:lnSpc>
                <a:spcPts val="2399"/>
              </a:lnSpc>
              <a:spcBef>
                <a:spcPct val="0"/>
              </a:spcBef>
            </a:pPr>
            <a:r>
              <a:rPr lang="en-US" sz="1713">
                <a:solidFill>
                  <a:srgbClr val="000000"/>
                </a:solidFill>
                <a:latin typeface="Montserrat"/>
                <a:ea typeface="Montserrat"/>
                <a:cs typeface="Montserrat"/>
                <a:sym typeface="Montserrat"/>
              </a:rPr>
              <a:t>According to the exploratory data analysis, the growth of Indego 30 and Indego 365 has soared more </a:t>
            </a:r>
            <a:r>
              <a:rPr lang="en-US" sz="1713" b="1">
                <a:solidFill>
                  <a:srgbClr val="000000"/>
                </a:solidFill>
                <a:latin typeface="Montserrat Bold"/>
                <a:ea typeface="Montserrat Bold"/>
                <a:cs typeface="Montserrat Bold"/>
                <a:sym typeface="Montserrat Bold"/>
              </a:rPr>
              <a:t>10,000</a:t>
            </a:r>
            <a:r>
              <a:rPr lang="en-US" sz="1713">
                <a:solidFill>
                  <a:srgbClr val="000000"/>
                </a:solidFill>
                <a:latin typeface="Montserrat"/>
                <a:ea typeface="Montserrat"/>
                <a:cs typeface="Montserrat"/>
                <a:sym typeface="Montserrat"/>
              </a:rPr>
              <a:t> uses from August to September during back-to-school period. This evidence signifies there are significant volumes of customer can come from campus where they choose to use the bike to go to school as the alternative transportation, which can be seen in </a:t>
            </a:r>
            <a:r>
              <a:rPr lang="en-US" sz="1713" u="sng">
                <a:solidFill>
                  <a:srgbClr val="000000"/>
                </a:solidFill>
                <a:latin typeface="Montserrat"/>
                <a:ea typeface="Montserrat"/>
                <a:cs typeface="Montserrat"/>
                <a:sym typeface="Montserrat"/>
              </a:rPr>
              <a:t>the rise of one trip and day pass 30 figures and its duration.</a:t>
            </a:r>
          </a:p>
        </p:txBody>
      </p:sp>
      <p:sp>
        <p:nvSpPr>
          <p:cNvPr id="20" name="TextBox 20"/>
          <p:cNvSpPr txBox="1"/>
          <p:nvPr/>
        </p:nvSpPr>
        <p:spPr>
          <a:xfrm>
            <a:off x="1549667" y="3129983"/>
            <a:ext cx="7412115" cy="2051967"/>
          </a:xfrm>
          <a:prstGeom prst="rect">
            <a:avLst/>
          </a:prstGeom>
        </p:spPr>
        <p:txBody>
          <a:bodyPr lIns="0" tIns="0" rIns="0" bIns="0" rtlCol="0" anchor="t">
            <a:spAutoFit/>
          </a:bodyPr>
          <a:lstStyle/>
          <a:p>
            <a:pPr algn="just">
              <a:lnSpc>
                <a:spcPts val="2399"/>
              </a:lnSpc>
              <a:spcBef>
                <a:spcPct val="0"/>
              </a:spcBef>
            </a:pPr>
            <a:r>
              <a:rPr lang="en-US" sz="1713">
                <a:solidFill>
                  <a:srgbClr val="000000"/>
                </a:solidFill>
                <a:latin typeface="Montserrat"/>
                <a:ea typeface="Montserrat"/>
                <a:cs typeface="Montserrat"/>
                <a:sym typeface="Montserrat"/>
              </a:rPr>
              <a:t>- The summer was also ended so the walk-up and day pass are dropping noticeably due to the decline in tourists. We can find that drop of </a:t>
            </a:r>
            <a:r>
              <a:rPr lang="en-US" sz="1713" b="1">
                <a:solidFill>
                  <a:srgbClr val="000000"/>
                </a:solidFill>
                <a:latin typeface="Montserrat Bold"/>
                <a:ea typeface="Montserrat Bold"/>
                <a:cs typeface="Montserrat Bold"/>
                <a:sym typeface="Montserrat Bold"/>
              </a:rPr>
              <a:t>walk-up and day pass</a:t>
            </a:r>
            <a:r>
              <a:rPr lang="en-US" sz="1713">
                <a:solidFill>
                  <a:srgbClr val="000000"/>
                </a:solidFill>
                <a:latin typeface="Montserrat"/>
                <a:ea typeface="Montserrat"/>
                <a:cs typeface="Montserrat"/>
                <a:sym typeface="Montserrat"/>
              </a:rPr>
              <a:t> from August to September is significant even lower than July with under </a:t>
            </a:r>
            <a:r>
              <a:rPr lang="en-US" sz="1713" b="1">
                <a:solidFill>
                  <a:srgbClr val="000000"/>
                </a:solidFill>
                <a:latin typeface="Montserrat Bold"/>
                <a:ea typeface="Montserrat Bold"/>
                <a:cs typeface="Montserrat Bold"/>
                <a:sym typeface="Montserrat Bold"/>
              </a:rPr>
              <a:t>10,000 rides</a:t>
            </a:r>
            <a:r>
              <a:rPr lang="en-US" sz="1713">
                <a:solidFill>
                  <a:srgbClr val="000000"/>
                </a:solidFill>
                <a:latin typeface="Montserrat"/>
                <a:ea typeface="Montserrat"/>
                <a:cs typeface="Montserrat"/>
                <a:sym typeface="Montserrat"/>
              </a:rPr>
              <a:t>. </a:t>
            </a:r>
            <a:r>
              <a:rPr lang="en-US" sz="1713" b="1">
                <a:solidFill>
                  <a:srgbClr val="000000"/>
                </a:solidFill>
                <a:latin typeface="Montserrat Bold"/>
                <a:ea typeface="Montserrat Bold"/>
                <a:cs typeface="Montserrat Bold"/>
                <a:sym typeface="Montserrat Bold"/>
              </a:rPr>
              <a:t>One-way</a:t>
            </a:r>
            <a:r>
              <a:rPr lang="en-US" sz="1713">
                <a:solidFill>
                  <a:srgbClr val="000000"/>
                </a:solidFill>
                <a:latin typeface="Montserrat"/>
                <a:ea typeface="Montserrat"/>
                <a:cs typeface="Montserrat"/>
                <a:sym typeface="Montserrat"/>
              </a:rPr>
              <a:t> also soar almost up to </a:t>
            </a:r>
            <a:r>
              <a:rPr lang="en-US" sz="1713" b="1">
                <a:solidFill>
                  <a:srgbClr val="000000"/>
                </a:solidFill>
                <a:latin typeface="Montserrat Bold"/>
                <a:ea typeface="Montserrat Bold"/>
                <a:cs typeface="Montserrat Bold"/>
                <a:sym typeface="Montserrat Bold"/>
              </a:rPr>
              <a:t>10,000 more rides</a:t>
            </a:r>
            <a:r>
              <a:rPr lang="en-US" sz="1713">
                <a:solidFill>
                  <a:srgbClr val="000000"/>
                </a:solidFill>
                <a:latin typeface="Montserrat"/>
                <a:ea typeface="Montserrat"/>
                <a:cs typeface="Montserrat"/>
                <a:sym typeface="Montserrat"/>
              </a:rPr>
              <a:t> but round trip has slightly dropped.</a:t>
            </a:r>
          </a:p>
          <a:p>
            <a:pPr algn="just">
              <a:lnSpc>
                <a:spcPts val="2399"/>
              </a:lnSpc>
              <a:spcBef>
                <a:spcPct val="0"/>
              </a:spcBef>
            </a:pPr>
            <a:endParaRPr lang="en-US" sz="1713">
              <a:solidFill>
                <a:srgbClr val="000000"/>
              </a:solidFill>
              <a:latin typeface="Montserrat"/>
              <a:ea typeface="Montserrat"/>
              <a:cs typeface="Montserrat"/>
              <a:sym typeface="Montserrat"/>
            </a:endParaRPr>
          </a:p>
        </p:txBody>
      </p:sp>
      <p:sp>
        <p:nvSpPr>
          <p:cNvPr id="21" name="TextBox 21"/>
          <p:cNvSpPr txBox="1"/>
          <p:nvPr/>
        </p:nvSpPr>
        <p:spPr>
          <a:xfrm>
            <a:off x="14079769" y="5658237"/>
            <a:ext cx="2893996" cy="224155"/>
          </a:xfrm>
          <a:prstGeom prst="rect">
            <a:avLst/>
          </a:prstGeom>
        </p:spPr>
        <p:txBody>
          <a:bodyPr lIns="0" tIns="0" rIns="0" bIns="0" rtlCol="0" anchor="t">
            <a:spAutoFit/>
          </a:bodyPr>
          <a:lstStyle/>
          <a:p>
            <a:pPr algn="ctr">
              <a:lnSpc>
                <a:spcPts val="1820"/>
              </a:lnSpc>
              <a:spcBef>
                <a:spcPct val="0"/>
              </a:spcBef>
            </a:pPr>
            <a:r>
              <a:rPr lang="en-US" sz="1300" b="1" i="1">
                <a:solidFill>
                  <a:srgbClr val="000000"/>
                </a:solidFill>
                <a:latin typeface="Montserrat Bold Italics"/>
                <a:ea typeface="Montserrat Bold Italics"/>
                <a:cs typeface="Montserrat Bold Italics"/>
                <a:sym typeface="Montserrat Bold Italics"/>
              </a:rPr>
              <a:t>Average Duration by pass holder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1028700" y="261411"/>
            <a:ext cx="6966547" cy="786348"/>
            <a:chOff x="0" y="0"/>
            <a:chExt cx="1834811" cy="207104"/>
          </a:xfrm>
        </p:grpSpPr>
        <p:sp>
          <p:nvSpPr>
            <p:cNvPr id="4" name="Freeform 4"/>
            <p:cNvSpPr/>
            <p:nvPr/>
          </p:nvSpPr>
          <p:spPr>
            <a:xfrm>
              <a:off x="0" y="0"/>
              <a:ext cx="1834811" cy="207104"/>
            </a:xfrm>
            <a:custGeom>
              <a:avLst/>
              <a:gdLst/>
              <a:ahLst/>
              <a:cxnLst/>
              <a:rect l="l" t="t" r="r" b="b"/>
              <a:pathLst>
                <a:path w="1834811" h="207104">
                  <a:moveTo>
                    <a:pt x="0" y="0"/>
                  </a:moveTo>
                  <a:lnTo>
                    <a:pt x="1834811" y="0"/>
                  </a:lnTo>
                  <a:lnTo>
                    <a:pt x="1834811" y="207104"/>
                  </a:lnTo>
                  <a:lnTo>
                    <a:pt x="0" y="207104"/>
                  </a:lnTo>
                  <a:close/>
                </a:path>
              </a:pathLst>
            </a:custGeom>
            <a:solidFill>
              <a:srgbClr val="000000">
                <a:alpha val="0"/>
              </a:srgbClr>
            </a:solidFill>
            <a:ln w="19050" cap="sq">
              <a:solidFill>
                <a:srgbClr val="00BF63"/>
              </a:solidFill>
              <a:prstDash val="solid"/>
              <a:miter/>
            </a:ln>
          </p:spPr>
        </p:sp>
        <p:sp>
          <p:nvSpPr>
            <p:cNvPr id="5" name="TextBox 5"/>
            <p:cNvSpPr txBox="1"/>
            <p:nvPr/>
          </p:nvSpPr>
          <p:spPr>
            <a:xfrm>
              <a:off x="0" y="-28575"/>
              <a:ext cx="1834811" cy="235679"/>
            </a:xfrm>
            <a:prstGeom prst="rect">
              <a:avLst/>
            </a:prstGeom>
          </p:spPr>
          <p:txBody>
            <a:bodyPr lIns="50800" tIns="50800" rIns="50800" bIns="50800" rtlCol="0" anchor="ctr"/>
            <a:lstStyle/>
            <a:p>
              <a:pPr algn="ctr">
                <a:lnSpc>
                  <a:spcPts val="2239"/>
                </a:lnSpc>
              </a:pPr>
              <a:endParaRPr/>
            </a:p>
          </p:txBody>
        </p:sp>
      </p:grpSp>
      <p:grpSp>
        <p:nvGrpSpPr>
          <p:cNvPr id="6" name="Group 6"/>
          <p:cNvGrpSpPr/>
          <p:nvPr/>
        </p:nvGrpSpPr>
        <p:grpSpPr>
          <a:xfrm>
            <a:off x="1028700" y="1520633"/>
            <a:ext cx="6966547" cy="8591607"/>
            <a:chOff x="0" y="0"/>
            <a:chExt cx="1834811" cy="2262810"/>
          </a:xfrm>
        </p:grpSpPr>
        <p:sp>
          <p:nvSpPr>
            <p:cNvPr id="7" name="Freeform 7"/>
            <p:cNvSpPr/>
            <p:nvPr/>
          </p:nvSpPr>
          <p:spPr>
            <a:xfrm>
              <a:off x="0" y="0"/>
              <a:ext cx="1834811" cy="2262810"/>
            </a:xfrm>
            <a:custGeom>
              <a:avLst/>
              <a:gdLst/>
              <a:ahLst/>
              <a:cxnLst/>
              <a:rect l="l" t="t" r="r" b="b"/>
              <a:pathLst>
                <a:path w="1834811" h="2262810">
                  <a:moveTo>
                    <a:pt x="0" y="0"/>
                  </a:moveTo>
                  <a:lnTo>
                    <a:pt x="1834811" y="0"/>
                  </a:lnTo>
                  <a:lnTo>
                    <a:pt x="1834811" y="2262810"/>
                  </a:lnTo>
                  <a:lnTo>
                    <a:pt x="0" y="2262810"/>
                  </a:lnTo>
                  <a:close/>
                </a:path>
              </a:pathLst>
            </a:custGeom>
            <a:solidFill>
              <a:srgbClr val="000000">
                <a:alpha val="0"/>
              </a:srgbClr>
            </a:solidFill>
            <a:ln w="19050" cap="sq">
              <a:solidFill>
                <a:srgbClr val="00BF63"/>
              </a:solidFill>
              <a:prstDash val="solid"/>
              <a:miter/>
            </a:ln>
          </p:spPr>
        </p:sp>
        <p:sp>
          <p:nvSpPr>
            <p:cNvPr id="8" name="TextBox 8"/>
            <p:cNvSpPr txBox="1"/>
            <p:nvPr/>
          </p:nvSpPr>
          <p:spPr>
            <a:xfrm>
              <a:off x="0" y="-28575"/>
              <a:ext cx="1834811" cy="2291385"/>
            </a:xfrm>
            <a:prstGeom prst="rect">
              <a:avLst/>
            </a:prstGeom>
          </p:spPr>
          <p:txBody>
            <a:bodyPr lIns="50800" tIns="50800" rIns="50800" bIns="50800" rtlCol="0" anchor="ctr"/>
            <a:lstStyle/>
            <a:p>
              <a:pPr algn="ctr">
                <a:lnSpc>
                  <a:spcPts val="2239"/>
                </a:lnSpc>
              </a:pPr>
              <a:endParaRPr/>
            </a:p>
          </p:txBody>
        </p:sp>
      </p:grpSp>
      <p:grpSp>
        <p:nvGrpSpPr>
          <p:cNvPr id="9" name="Group 9"/>
          <p:cNvGrpSpPr/>
          <p:nvPr/>
        </p:nvGrpSpPr>
        <p:grpSpPr>
          <a:xfrm>
            <a:off x="9144000" y="3371422"/>
            <a:ext cx="8115300" cy="5612142"/>
            <a:chOff x="0" y="0"/>
            <a:chExt cx="1257272" cy="869468"/>
          </a:xfrm>
        </p:grpSpPr>
        <p:sp>
          <p:nvSpPr>
            <p:cNvPr id="10" name="Freeform 10"/>
            <p:cNvSpPr/>
            <p:nvPr/>
          </p:nvSpPr>
          <p:spPr>
            <a:xfrm>
              <a:off x="0" y="0"/>
              <a:ext cx="1257272" cy="869468"/>
            </a:xfrm>
            <a:custGeom>
              <a:avLst/>
              <a:gdLst/>
              <a:ahLst/>
              <a:cxnLst/>
              <a:rect l="l" t="t" r="r" b="b"/>
              <a:pathLst>
                <a:path w="1257272" h="869468">
                  <a:moveTo>
                    <a:pt x="0" y="0"/>
                  </a:moveTo>
                  <a:lnTo>
                    <a:pt x="1257272" y="0"/>
                  </a:lnTo>
                  <a:lnTo>
                    <a:pt x="1257272" y="869468"/>
                  </a:lnTo>
                  <a:lnTo>
                    <a:pt x="0" y="869468"/>
                  </a:lnTo>
                  <a:close/>
                </a:path>
              </a:pathLst>
            </a:custGeom>
            <a:blipFill>
              <a:blip r:embed="rId3"/>
              <a:stretch>
                <a:fillRect l="-5324" r="-5324"/>
              </a:stretch>
            </a:blipFill>
          </p:spPr>
        </p:sp>
      </p:grpSp>
      <p:grpSp>
        <p:nvGrpSpPr>
          <p:cNvPr id="11" name="Group 11"/>
          <p:cNvGrpSpPr/>
          <p:nvPr/>
        </p:nvGrpSpPr>
        <p:grpSpPr>
          <a:xfrm>
            <a:off x="14210452" y="9258300"/>
            <a:ext cx="3903611" cy="776313"/>
            <a:chOff x="0" y="0"/>
            <a:chExt cx="5204815" cy="1035084"/>
          </a:xfrm>
        </p:grpSpPr>
        <p:sp>
          <p:nvSpPr>
            <p:cNvPr id="12" name="Freeform 12"/>
            <p:cNvSpPr/>
            <p:nvPr/>
          </p:nvSpPr>
          <p:spPr>
            <a:xfrm>
              <a:off x="1358785" y="79450"/>
              <a:ext cx="876185" cy="876185"/>
            </a:xfrm>
            <a:custGeom>
              <a:avLst/>
              <a:gdLst/>
              <a:ahLst/>
              <a:cxnLst/>
              <a:rect l="l" t="t" r="r" b="b"/>
              <a:pathLst>
                <a:path w="876185" h="876185">
                  <a:moveTo>
                    <a:pt x="0" y="0"/>
                  </a:moveTo>
                  <a:lnTo>
                    <a:pt x="876186" y="0"/>
                  </a:lnTo>
                  <a:lnTo>
                    <a:pt x="876186" y="876185"/>
                  </a:lnTo>
                  <a:lnTo>
                    <a:pt x="0" y="876185"/>
                  </a:lnTo>
                  <a:lnTo>
                    <a:pt x="0" y="0"/>
                  </a:lnTo>
                  <a:close/>
                </a:path>
              </a:pathLst>
            </a:custGeom>
            <a:blipFill>
              <a:blip r:embed="rId4"/>
              <a:stretch>
                <a:fillRect/>
              </a:stretch>
            </a:blipFill>
          </p:spPr>
        </p:sp>
        <p:sp>
          <p:nvSpPr>
            <p:cNvPr id="13" name="Freeform 13"/>
            <p:cNvSpPr/>
            <p:nvPr/>
          </p:nvSpPr>
          <p:spPr>
            <a:xfrm>
              <a:off x="0" y="79450"/>
              <a:ext cx="876185" cy="876185"/>
            </a:xfrm>
            <a:custGeom>
              <a:avLst/>
              <a:gdLst/>
              <a:ahLst/>
              <a:cxnLst/>
              <a:rect l="l" t="t" r="r" b="b"/>
              <a:pathLst>
                <a:path w="876185" h="876185">
                  <a:moveTo>
                    <a:pt x="0" y="0"/>
                  </a:moveTo>
                  <a:lnTo>
                    <a:pt x="876185" y="0"/>
                  </a:lnTo>
                  <a:lnTo>
                    <a:pt x="876185" y="876185"/>
                  </a:lnTo>
                  <a:lnTo>
                    <a:pt x="0" y="876185"/>
                  </a:lnTo>
                  <a:lnTo>
                    <a:pt x="0" y="0"/>
                  </a:lnTo>
                  <a:close/>
                </a:path>
              </a:pathLst>
            </a:custGeom>
            <a:blipFill>
              <a:blip r:embed="rId5"/>
              <a:stretch>
                <a:fillRect/>
              </a:stretch>
            </a:blipFill>
          </p:spPr>
        </p:sp>
        <p:sp>
          <p:nvSpPr>
            <p:cNvPr id="14" name="TextBox 14"/>
            <p:cNvSpPr txBox="1"/>
            <p:nvPr/>
          </p:nvSpPr>
          <p:spPr>
            <a:xfrm>
              <a:off x="2450871" y="331911"/>
              <a:ext cx="2753944" cy="342688"/>
            </a:xfrm>
            <a:prstGeom prst="rect">
              <a:avLst/>
            </a:prstGeom>
          </p:spPr>
          <p:txBody>
            <a:bodyPr lIns="0" tIns="0" rIns="0" bIns="0" rtlCol="0" anchor="t">
              <a:spAutoFit/>
            </a:bodyPr>
            <a:lstStyle/>
            <a:p>
              <a:pPr algn="just">
                <a:lnSpc>
                  <a:spcPts val="2239"/>
                </a:lnSpc>
                <a:spcBef>
                  <a:spcPct val="0"/>
                </a:spcBef>
              </a:pPr>
              <a:r>
                <a:rPr lang="en-US" sz="1599" b="1">
                  <a:solidFill>
                    <a:srgbClr val="000000"/>
                  </a:solidFill>
                  <a:latin typeface="Montserrat Bold"/>
                  <a:ea typeface="Montserrat Bold"/>
                  <a:cs typeface="Montserrat Bold"/>
                  <a:sym typeface="Montserrat Bold"/>
                </a:rPr>
                <a:t>Philly’s Bike Share </a:t>
              </a:r>
            </a:p>
          </p:txBody>
        </p:sp>
        <p:sp>
          <p:nvSpPr>
            <p:cNvPr id="15" name="AutoShape 15"/>
            <p:cNvSpPr/>
            <p:nvPr/>
          </p:nvSpPr>
          <p:spPr>
            <a:xfrm flipV="1">
              <a:off x="1117485" y="0"/>
              <a:ext cx="0" cy="1035084"/>
            </a:xfrm>
            <a:prstGeom prst="line">
              <a:avLst/>
            </a:prstGeom>
            <a:ln w="50800" cap="flat">
              <a:solidFill>
                <a:srgbClr val="000000"/>
              </a:solidFill>
              <a:prstDash val="solid"/>
              <a:headEnd type="none" w="sm" len="sm"/>
              <a:tailEnd type="none" w="sm" len="sm"/>
            </a:ln>
          </p:spPr>
        </p:sp>
      </p:grpSp>
      <p:sp>
        <p:nvSpPr>
          <p:cNvPr id="16" name="TextBox 16"/>
          <p:cNvSpPr txBox="1"/>
          <p:nvPr/>
        </p:nvSpPr>
        <p:spPr>
          <a:xfrm>
            <a:off x="1028700" y="449163"/>
            <a:ext cx="6966547" cy="372745"/>
          </a:xfrm>
          <a:prstGeom prst="rect">
            <a:avLst/>
          </a:prstGeom>
        </p:spPr>
        <p:txBody>
          <a:bodyPr lIns="0" tIns="0" rIns="0" bIns="0" rtlCol="0" anchor="t">
            <a:spAutoFit/>
          </a:bodyPr>
          <a:lstStyle/>
          <a:p>
            <a:pPr algn="ctr">
              <a:lnSpc>
                <a:spcPts val="3080"/>
              </a:lnSpc>
              <a:spcBef>
                <a:spcPct val="0"/>
              </a:spcBef>
            </a:pPr>
            <a:r>
              <a:rPr lang="en-US" sz="2200" b="1" i="1">
                <a:solidFill>
                  <a:srgbClr val="000000"/>
                </a:solidFill>
                <a:latin typeface="Montserrat Bold Italics"/>
                <a:ea typeface="Montserrat Bold Italics"/>
                <a:cs typeface="Montserrat Bold Italics"/>
                <a:sym typeface="Montserrat Bold Italics"/>
              </a:rPr>
              <a:t>Better vision, better decision</a:t>
            </a:r>
          </a:p>
        </p:txBody>
      </p:sp>
      <p:sp>
        <p:nvSpPr>
          <p:cNvPr id="17" name="TextBox 17"/>
          <p:cNvSpPr txBox="1"/>
          <p:nvPr/>
        </p:nvSpPr>
        <p:spPr>
          <a:xfrm>
            <a:off x="9144000" y="394761"/>
            <a:ext cx="8115300" cy="2701925"/>
          </a:xfrm>
          <a:prstGeom prst="rect">
            <a:avLst/>
          </a:prstGeom>
        </p:spPr>
        <p:txBody>
          <a:bodyPr lIns="0" tIns="0" rIns="0" bIns="0" rtlCol="0" anchor="t">
            <a:spAutoFit/>
          </a:bodyPr>
          <a:lstStyle/>
          <a:p>
            <a:pPr algn="l">
              <a:lnSpc>
                <a:spcPts val="6999"/>
              </a:lnSpc>
            </a:pPr>
            <a:r>
              <a:rPr lang="en-US" sz="6999">
                <a:solidFill>
                  <a:srgbClr val="00BF63"/>
                </a:solidFill>
                <a:latin typeface="Glacial Indifference"/>
                <a:ea typeface="Glacial Indifference"/>
                <a:cs typeface="Glacial Indifference"/>
                <a:sym typeface="Glacial Indifference"/>
              </a:rPr>
              <a:t>3. Recommeneded approach to growing the program</a:t>
            </a:r>
          </a:p>
        </p:txBody>
      </p:sp>
      <p:sp>
        <p:nvSpPr>
          <p:cNvPr id="18" name="TextBox 18"/>
          <p:cNvSpPr txBox="1"/>
          <p:nvPr/>
        </p:nvSpPr>
        <p:spPr>
          <a:xfrm>
            <a:off x="1410026" y="1663791"/>
            <a:ext cx="6203894" cy="8267190"/>
          </a:xfrm>
          <a:prstGeom prst="rect">
            <a:avLst/>
          </a:prstGeom>
        </p:spPr>
        <p:txBody>
          <a:bodyPr lIns="0" tIns="0" rIns="0" bIns="0" rtlCol="0" anchor="t">
            <a:spAutoFit/>
          </a:bodyPr>
          <a:lstStyle/>
          <a:p>
            <a:pPr algn="just">
              <a:lnSpc>
                <a:spcPts val="2128"/>
              </a:lnSpc>
              <a:spcBef>
                <a:spcPct val="0"/>
              </a:spcBef>
            </a:pPr>
            <a:r>
              <a:rPr lang="en-US" sz="1520" dirty="0">
                <a:solidFill>
                  <a:srgbClr val="000000"/>
                </a:solidFill>
                <a:latin typeface="Montserrat"/>
                <a:ea typeface="Montserrat"/>
                <a:cs typeface="Montserrat"/>
                <a:sym typeface="Montserrat"/>
              </a:rPr>
              <a:t>1 - Since we can collect locations, duration, bike types and pass holders. We should add other business performance such as revenue, all cost affiliation in running operations, marketing conversion.</a:t>
            </a:r>
          </a:p>
          <a:p>
            <a:pPr algn="just">
              <a:lnSpc>
                <a:spcPts val="2128"/>
              </a:lnSpc>
              <a:spcBef>
                <a:spcPct val="0"/>
              </a:spcBef>
            </a:pPr>
            <a:endParaRPr lang="en-US" sz="1520" dirty="0">
              <a:solidFill>
                <a:srgbClr val="000000"/>
              </a:solidFill>
              <a:latin typeface="Montserrat"/>
              <a:ea typeface="Montserrat"/>
              <a:cs typeface="Montserrat"/>
              <a:sym typeface="Montserrat"/>
            </a:endParaRPr>
          </a:p>
          <a:p>
            <a:pPr algn="just">
              <a:lnSpc>
                <a:spcPts val="2128"/>
              </a:lnSpc>
              <a:spcBef>
                <a:spcPct val="0"/>
              </a:spcBef>
            </a:pPr>
            <a:r>
              <a:rPr lang="en-US" sz="1520" dirty="0">
                <a:solidFill>
                  <a:srgbClr val="000000"/>
                </a:solidFill>
                <a:latin typeface="Montserrat"/>
                <a:ea typeface="Montserrat"/>
                <a:cs typeface="Montserrat"/>
                <a:sym typeface="Montserrat"/>
              </a:rPr>
              <a:t>2 - I would suggest to add more factors like age of customers, their career if it is possible to complete the picture of </a:t>
            </a:r>
            <a:r>
              <a:rPr lang="en-US" sz="1520" dirty="0" err="1">
                <a:solidFill>
                  <a:srgbClr val="000000"/>
                </a:solidFill>
                <a:latin typeface="Montserrat"/>
                <a:ea typeface="Montserrat"/>
                <a:cs typeface="Montserrat"/>
                <a:sym typeface="Montserrat"/>
              </a:rPr>
              <a:t>Idego's</a:t>
            </a:r>
            <a:r>
              <a:rPr lang="en-US" sz="1520" dirty="0">
                <a:solidFill>
                  <a:srgbClr val="000000"/>
                </a:solidFill>
                <a:latin typeface="Montserrat"/>
                <a:ea typeface="Montserrat"/>
                <a:cs typeface="Montserrat"/>
                <a:sym typeface="Montserrat"/>
              </a:rPr>
              <a:t> target customers. This can make a game changer for the business to deliver perks, benefits and marketing campaign more tailored with its main customer base.</a:t>
            </a:r>
          </a:p>
          <a:p>
            <a:pPr algn="just">
              <a:lnSpc>
                <a:spcPts val="2128"/>
              </a:lnSpc>
              <a:spcBef>
                <a:spcPct val="0"/>
              </a:spcBef>
            </a:pPr>
            <a:endParaRPr lang="en-US" sz="1520" dirty="0">
              <a:solidFill>
                <a:srgbClr val="000000"/>
              </a:solidFill>
              <a:latin typeface="Montserrat"/>
              <a:ea typeface="Montserrat"/>
              <a:cs typeface="Montserrat"/>
              <a:sym typeface="Montserrat"/>
            </a:endParaRPr>
          </a:p>
          <a:p>
            <a:pPr algn="just">
              <a:lnSpc>
                <a:spcPts val="2128"/>
              </a:lnSpc>
              <a:spcBef>
                <a:spcPct val="0"/>
              </a:spcBef>
            </a:pPr>
            <a:r>
              <a:rPr lang="en-US" sz="1520" dirty="0">
                <a:solidFill>
                  <a:srgbClr val="000000"/>
                </a:solidFill>
                <a:latin typeface="Montserrat"/>
                <a:ea typeface="Montserrat"/>
                <a:cs typeface="Montserrat"/>
                <a:sym typeface="Montserrat"/>
              </a:rPr>
              <a:t>3 - Thirdly, the business should also include their internal performance in each department. Optimizing the operation structure is the easiest way to increase the effectiveness for the firm's productivity. Once the company runs smoothly and efficiently, it can create more values for community and business result</a:t>
            </a:r>
          </a:p>
          <a:p>
            <a:pPr algn="just">
              <a:lnSpc>
                <a:spcPts val="2128"/>
              </a:lnSpc>
              <a:spcBef>
                <a:spcPct val="0"/>
              </a:spcBef>
            </a:pPr>
            <a:endParaRPr lang="en-US" sz="1520" dirty="0">
              <a:solidFill>
                <a:srgbClr val="000000"/>
              </a:solidFill>
              <a:latin typeface="Montserrat"/>
              <a:ea typeface="Montserrat"/>
              <a:cs typeface="Montserrat"/>
              <a:sym typeface="Montserrat"/>
            </a:endParaRPr>
          </a:p>
          <a:p>
            <a:pPr algn="just">
              <a:lnSpc>
                <a:spcPts val="2128"/>
              </a:lnSpc>
              <a:spcBef>
                <a:spcPct val="0"/>
              </a:spcBef>
            </a:pPr>
            <a:r>
              <a:rPr lang="en-US" sz="1520" dirty="0">
                <a:solidFill>
                  <a:srgbClr val="000000"/>
                </a:solidFill>
                <a:latin typeface="Montserrat"/>
                <a:ea typeface="Montserrat"/>
                <a:cs typeface="Montserrat"/>
                <a:sym typeface="Montserrat"/>
              </a:rPr>
              <a:t>4 - Furthermore, Lifetime Value calculation and other metrics relates to customer life span. Since keeping existing customers is more affordable than acquiring new customer. Loyal customers can create consistent revenue for the company, so it is important to understand what is keeping customers to stay with the business</a:t>
            </a:r>
          </a:p>
          <a:p>
            <a:pPr algn="just">
              <a:lnSpc>
                <a:spcPts val="2128"/>
              </a:lnSpc>
              <a:spcBef>
                <a:spcPct val="0"/>
              </a:spcBef>
            </a:pPr>
            <a:endParaRPr lang="en-US" sz="1520" dirty="0">
              <a:solidFill>
                <a:srgbClr val="000000"/>
              </a:solidFill>
              <a:latin typeface="Montserrat"/>
              <a:ea typeface="Montserrat"/>
              <a:cs typeface="Montserrat"/>
              <a:sym typeface="Montserrat"/>
            </a:endParaRPr>
          </a:p>
          <a:p>
            <a:pPr algn="just">
              <a:lnSpc>
                <a:spcPts val="2128"/>
              </a:lnSpc>
              <a:spcBef>
                <a:spcPct val="0"/>
              </a:spcBef>
            </a:pPr>
            <a:r>
              <a:rPr lang="en-US" sz="1520" dirty="0">
                <a:solidFill>
                  <a:srgbClr val="000000"/>
                </a:solidFill>
                <a:latin typeface="Montserrat"/>
                <a:ea typeface="Montserrat"/>
                <a:cs typeface="Montserrat"/>
                <a:sym typeface="Montserrat"/>
              </a:rPr>
              <a:t>5 – Finally, we can make a survey to understand more about our customers, what drives they to come to our services. In that way, we use these information to analyze their behavior and improve the service or product then increase the average customer's life span.</a:t>
            </a:r>
          </a:p>
          <a:p>
            <a:pPr algn="just">
              <a:lnSpc>
                <a:spcPts val="2128"/>
              </a:lnSpc>
              <a:spcBef>
                <a:spcPct val="0"/>
              </a:spcBef>
            </a:pPr>
            <a:endParaRPr lang="en-US" sz="1520" dirty="0">
              <a:solidFill>
                <a:srgbClr val="000000"/>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23232" y="0"/>
            <a:ext cx="7074503" cy="10287000"/>
            <a:chOff x="0" y="0"/>
            <a:chExt cx="1096026" cy="1593725"/>
          </a:xfrm>
        </p:grpSpPr>
        <p:sp>
          <p:nvSpPr>
            <p:cNvPr id="4" name="Freeform 4"/>
            <p:cNvSpPr/>
            <p:nvPr/>
          </p:nvSpPr>
          <p:spPr>
            <a:xfrm>
              <a:off x="0" y="0"/>
              <a:ext cx="1096026" cy="1593725"/>
            </a:xfrm>
            <a:custGeom>
              <a:avLst/>
              <a:gdLst/>
              <a:ahLst/>
              <a:cxnLst/>
              <a:rect l="l" t="t" r="r" b="b"/>
              <a:pathLst>
                <a:path w="1096026" h="1593725">
                  <a:moveTo>
                    <a:pt x="0" y="0"/>
                  </a:moveTo>
                  <a:lnTo>
                    <a:pt x="1096026" y="0"/>
                  </a:lnTo>
                  <a:lnTo>
                    <a:pt x="1096026" y="1593725"/>
                  </a:lnTo>
                  <a:lnTo>
                    <a:pt x="0" y="1593725"/>
                  </a:lnTo>
                  <a:close/>
                </a:path>
              </a:pathLst>
            </a:custGeom>
            <a:blipFill>
              <a:blip r:embed="rId3"/>
              <a:stretch>
                <a:fillRect l="-101574" r="-17497"/>
              </a:stretch>
            </a:blipFill>
          </p:spPr>
        </p:sp>
      </p:grpSp>
      <p:grpSp>
        <p:nvGrpSpPr>
          <p:cNvPr id="5" name="Group 5"/>
          <p:cNvGrpSpPr/>
          <p:nvPr/>
        </p:nvGrpSpPr>
        <p:grpSpPr>
          <a:xfrm>
            <a:off x="8244309" y="3854339"/>
            <a:ext cx="5414638" cy="4764437"/>
            <a:chOff x="0" y="0"/>
            <a:chExt cx="1426077" cy="1254831"/>
          </a:xfrm>
        </p:grpSpPr>
        <p:sp>
          <p:nvSpPr>
            <p:cNvPr id="6" name="Freeform 6"/>
            <p:cNvSpPr/>
            <p:nvPr/>
          </p:nvSpPr>
          <p:spPr>
            <a:xfrm>
              <a:off x="0" y="0"/>
              <a:ext cx="1426077" cy="1254831"/>
            </a:xfrm>
            <a:custGeom>
              <a:avLst/>
              <a:gdLst/>
              <a:ahLst/>
              <a:cxnLst/>
              <a:rect l="l" t="t" r="r" b="b"/>
              <a:pathLst>
                <a:path w="1426077" h="1254831">
                  <a:moveTo>
                    <a:pt x="0" y="0"/>
                  </a:moveTo>
                  <a:lnTo>
                    <a:pt x="1426077" y="0"/>
                  </a:lnTo>
                  <a:lnTo>
                    <a:pt x="1426077" y="1254831"/>
                  </a:lnTo>
                  <a:lnTo>
                    <a:pt x="0" y="1254831"/>
                  </a:lnTo>
                  <a:close/>
                </a:path>
              </a:pathLst>
            </a:custGeom>
            <a:solidFill>
              <a:srgbClr val="000000">
                <a:alpha val="0"/>
              </a:srgbClr>
            </a:solidFill>
            <a:ln w="19050" cap="sq">
              <a:solidFill>
                <a:srgbClr val="00BF63"/>
              </a:solidFill>
              <a:prstDash val="solid"/>
              <a:miter/>
            </a:ln>
          </p:spPr>
        </p:sp>
        <p:sp>
          <p:nvSpPr>
            <p:cNvPr id="7" name="TextBox 7"/>
            <p:cNvSpPr txBox="1"/>
            <p:nvPr/>
          </p:nvSpPr>
          <p:spPr>
            <a:xfrm>
              <a:off x="0" y="-28575"/>
              <a:ext cx="1426077" cy="1283406"/>
            </a:xfrm>
            <a:prstGeom prst="rect">
              <a:avLst/>
            </a:prstGeom>
          </p:spPr>
          <p:txBody>
            <a:bodyPr lIns="50800" tIns="50800" rIns="50800" bIns="50800" rtlCol="0" anchor="ctr"/>
            <a:lstStyle/>
            <a:p>
              <a:pPr algn="ctr">
                <a:lnSpc>
                  <a:spcPts val="2239"/>
                </a:lnSpc>
              </a:pPr>
              <a:endParaRPr/>
            </a:p>
          </p:txBody>
        </p:sp>
      </p:grpSp>
      <p:sp>
        <p:nvSpPr>
          <p:cNvPr id="8" name="TextBox 8"/>
          <p:cNvSpPr txBox="1"/>
          <p:nvPr/>
        </p:nvSpPr>
        <p:spPr>
          <a:xfrm>
            <a:off x="8604480" y="4230307"/>
            <a:ext cx="4376129" cy="372745"/>
          </a:xfrm>
          <a:prstGeom prst="rect">
            <a:avLst/>
          </a:prstGeom>
        </p:spPr>
        <p:txBody>
          <a:bodyPr lIns="0" tIns="0" rIns="0" bIns="0" rtlCol="0" anchor="t">
            <a:spAutoFit/>
          </a:bodyPr>
          <a:lstStyle/>
          <a:p>
            <a:pPr algn="l">
              <a:lnSpc>
                <a:spcPts val="3080"/>
              </a:lnSpc>
              <a:spcBef>
                <a:spcPct val="0"/>
              </a:spcBef>
            </a:pPr>
            <a:r>
              <a:rPr lang="en-US" sz="2200" b="1" i="1">
                <a:solidFill>
                  <a:srgbClr val="000000"/>
                </a:solidFill>
                <a:latin typeface="Montserrat Bold Italics"/>
                <a:ea typeface="Montserrat Bold Italics"/>
                <a:cs typeface="Montserrat Bold Italics"/>
                <a:sym typeface="Montserrat Bold Italics"/>
              </a:rPr>
              <a:t>Resources:</a:t>
            </a:r>
          </a:p>
        </p:txBody>
      </p:sp>
      <p:sp>
        <p:nvSpPr>
          <p:cNvPr id="9" name="TextBox 9"/>
          <p:cNvSpPr txBox="1"/>
          <p:nvPr/>
        </p:nvSpPr>
        <p:spPr>
          <a:xfrm>
            <a:off x="8604480" y="4871508"/>
            <a:ext cx="4376129" cy="2641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000000"/>
                </a:solidFill>
                <a:latin typeface="Montserrat"/>
                <a:ea typeface="Montserrat"/>
                <a:cs typeface="Montserrat"/>
                <a:sym typeface="Montserrat"/>
              </a:rPr>
              <a:t>Colab Link: </a:t>
            </a:r>
            <a:r>
              <a:rPr lang="en-US" sz="1599" u="sng">
                <a:solidFill>
                  <a:srgbClr val="000000"/>
                </a:solidFill>
                <a:latin typeface="Montserrat"/>
                <a:ea typeface="Montserrat"/>
                <a:cs typeface="Montserrat"/>
                <a:sym typeface="Montserrat"/>
                <a:hlinkClick r:id="rId4" tooltip="https://colab.research.google.com/drive/1ijcL3PMj0VX8qmx2O8-CXDOry8Xu8WfV?usp=sharing"/>
              </a:rPr>
              <a:t>Steven_Nguyen_Indego.ipynb</a:t>
            </a:r>
          </a:p>
        </p:txBody>
      </p:sp>
      <p:grpSp>
        <p:nvGrpSpPr>
          <p:cNvPr id="10" name="Group 10"/>
          <p:cNvGrpSpPr/>
          <p:nvPr/>
        </p:nvGrpSpPr>
        <p:grpSpPr>
          <a:xfrm>
            <a:off x="8999823" y="7529370"/>
            <a:ext cx="3903611" cy="776313"/>
            <a:chOff x="0" y="0"/>
            <a:chExt cx="5204815" cy="1035084"/>
          </a:xfrm>
        </p:grpSpPr>
        <p:sp>
          <p:nvSpPr>
            <p:cNvPr id="11" name="Freeform 11"/>
            <p:cNvSpPr/>
            <p:nvPr/>
          </p:nvSpPr>
          <p:spPr>
            <a:xfrm>
              <a:off x="1358785" y="79450"/>
              <a:ext cx="876185" cy="876185"/>
            </a:xfrm>
            <a:custGeom>
              <a:avLst/>
              <a:gdLst/>
              <a:ahLst/>
              <a:cxnLst/>
              <a:rect l="l" t="t" r="r" b="b"/>
              <a:pathLst>
                <a:path w="876185" h="876185">
                  <a:moveTo>
                    <a:pt x="0" y="0"/>
                  </a:moveTo>
                  <a:lnTo>
                    <a:pt x="876186" y="0"/>
                  </a:lnTo>
                  <a:lnTo>
                    <a:pt x="876186" y="876185"/>
                  </a:lnTo>
                  <a:lnTo>
                    <a:pt x="0" y="876185"/>
                  </a:lnTo>
                  <a:lnTo>
                    <a:pt x="0" y="0"/>
                  </a:lnTo>
                  <a:close/>
                </a:path>
              </a:pathLst>
            </a:custGeom>
            <a:blipFill>
              <a:blip r:embed="rId5"/>
              <a:stretch>
                <a:fillRect/>
              </a:stretch>
            </a:blipFill>
          </p:spPr>
        </p:sp>
        <p:sp>
          <p:nvSpPr>
            <p:cNvPr id="12" name="Freeform 12"/>
            <p:cNvSpPr/>
            <p:nvPr/>
          </p:nvSpPr>
          <p:spPr>
            <a:xfrm>
              <a:off x="0" y="79450"/>
              <a:ext cx="876185" cy="876185"/>
            </a:xfrm>
            <a:custGeom>
              <a:avLst/>
              <a:gdLst/>
              <a:ahLst/>
              <a:cxnLst/>
              <a:rect l="l" t="t" r="r" b="b"/>
              <a:pathLst>
                <a:path w="876185" h="876185">
                  <a:moveTo>
                    <a:pt x="0" y="0"/>
                  </a:moveTo>
                  <a:lnTo>
                    <a:pt x="876185" y="0"/>
                  </a:lnTo>
                  <a:lnTo>
                    <a:pt x="876185" y="876185"/>
                  </a:lnTo>
                  <a:lnTo>
                    <a:pt x="0" y="876185"/>
                  </a:lnTo>
                  <a:lnTo>
                    <a:pt x="0" y="0"/>
                  </a:lnTo>
                  <a:close/>
                </a:path>
              </a:pathLst>
            </a:custGeom>
            <a:blipFill>
              <a:blip r:embed="rId6"/>
              <a:stretch>
                <a:fillRect/>
              </a:stretch>
            </a:blipFill>
          </p:spPr>
        </p:sp>
        <p:sp>
          <p:nvSpPr>
            <p:cNvPr id="13" name="TextBox 13"/>
            <p:cNvSpPr txBox="1"/>
            <p:nvPr/>
          </p:nvSpPr>
          <p:spPr>
            <a:xfrm>
              <a:off x="2450871" y="331911"/>
              <a:ext cx="2753944" cy="342688"/>
            </a:xfrm>
            <a:prstGeom prst="rect">
              <a:avLst/>
            </a:prstGeom>
          </p:spPr>
          <p:txBody>
            <a:bodyPr lIns="0" tIns="0" rIns="0" bIns="0" rtlCol="0" anchor="t">
              <a:spAutoFit/>
            </a:bodyPr>
            <a:lstStyle/>
            <a:p>
              <a:pPr algn="just">
                <a:lnSpc>
                  <a:spcPts val="2239"/>
                </a:lnSpc>
                <a:spcBef>
                  <a:spcPct val="0"/>
                </a:spcBef>
              </a:pPr>
              <a:r>
                <a:rPr lang="en-US" sz="1599" b="1">
                  <a:solidFill>
                    <a:srgbClr val="000000"/>
                  </a:solidFill>
                  <a:latin typeface="Montserrat Bold"/>
                  <a:ea typeface="Montserrat Bold"/>
                  <a:cs typeface="Montserrat Bold"/>
                  <a:sym typeface="Montserrat Bold"/>
                </a:rPr>
                <a:t>Philly’s Bike Share </a:t>
              </a:r>
            </a:p>
          </p:txBody>
        </p:sp>
        <p:sp>
          <p:nvSpPr>
            <p:cNvPr id="14" name="AutoShape 14"/>
            <p:cNvSpPr/>
            <p:nvPr/>
          </p:nvSpPr>
          <p:spPr>
            <a:xfrm flipV="1">
              <a:off x="1117485" y="0"/>
              <a:ext cx="0" cy="1035084"/>
            </a:xfrm>
            <a:prstGeom prst="line">
              <a:avLst/>
            </a:prstGeom>
            <a:ln w="50800" cap="flat">
              <a:solidFill>
                <a:srgbClr val="000000"/>
              </a:solidFill>
              <a:prstDash val="solid"/>
              <a:headEnd type="none" w="sm" len="sm"/>
              <a:tailEnd type="none" w="sm" len="sm"/>
            </a:ln>
          </p:spPr>
        </p:sp>
      </p:grpSp>
      <p:sp>
        <p:nvSpPr>
          <p:cNvPr id="15" name="TextBox 15"/>
          <p:cNvSpPr txBox="1"/>
          <p:nvPr/>
        </p:nvSpPr>
        <p:spPr>
          <a:xfrm>
            <a:off x="8080321" y="1877775"/>
            <a:ext cx="6221874" cy="1509478"/>
          </a:xfrm>
          <a:prstGeom prst="rect">
            <a:avLst/>
          </a:prstGeom>
        </p:spPr>
        <p:txBody>
          <a:bodyPr lIns="0" tIns="0" rIns="0" bIns="0" rtlCol="0" anchor="t">
            <a:spAutoFit/>
          </a:bodyPr>
          <a:lstStyle/>
          <a:p>
            <a:pPr algn="l">
              <a:lnSpc>
                <a:spcPts val="11362"/>
              </a:lnSpc>
            </a:pPr>
            <a:r>
              <a:rPr lang="en-US" sz="11362">
                <a:solidFill>
                  <a:srgbClr val="00BF63"/>
                </a:solidFill>
                <a:latin typeface="Glacial Indifference"/>
                <a:ea typeface="Glacial Indifference"/>
                <a:cs typeface="Glacial Indifference"/>
                <a:sym typeface="Glacial Indifference"/>
              </a:rPr>
              <a:t>Thank You</a:t>
            </a:r>
          </a:p>
        </p:txBody>
      </p:sp>
      <p:sp>
        <p:nvSpPr>
          <p:cNvPr id="16" name="TextBox 16"/>
          <p:cNvSpPr txBox="1"/>
          <p:nvPr/>
        </p:nvSpPr>
        <p:spPr>
          <a:xfrm>
            <a:off x="8604480" y="5402368"/>
            <a:ext cx="4376129" cy="2641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000000"/>
                </a:solidFill>
                <a:latin typeface="Montserrat"/>
                <a:ea typeface="Montserrat"/>
                <a:cs typeface="Montserrat"/>
                <a:sym typeface="Montserrat"/>
              </a:rPr>
              <a:t>Dataset: </a:t>
            </a:r>
            <a:r>
              <a:rPr lang="en-US" sz="1599" u="sng">
                <a:solidFill>
                  <a:srgbClr val="000000"/>
                </a:solidFill>
                <a:latin typeface="Montserrat"/>
                <a:ea typeface="Montserrat"/>
                <a:cs typeface="Montserrat"/>
                <a:sym typeface="Montserrat"/>
                <a:hlinkClick r:id="rId7" tooltip="https://www.rideindego.com/about/data/"/>
              </a:rPr>
              <a:t>Trip Data</a:t>
            </a:r>
          </a:p>
        </p:txBody>
      </p:sp>
      <p:sp>
        <p:nvSpPr>
          <p:cNvPr id="17" name="TextBox 17"/>
          <p:cNvSpPr txBox="1"/>
          <p:nvPr/>
        </p:nvSpPr>
        <p:spPr>
          <a:xfrm>
            <a:off x="8604480" y="6079471"/>
            <a:ext cx="4376129" cy="372745"/>
          </a:xfrm>
          <a:prstGeom prst="rect">
            <a:avLst/>
          </a:prstGeom>
        </p:spPr>
        <p:txBody>
          <a:bodyPr lIns="0" tIns="0" rIns="0" bIns="0" rtlCol="0" anchor="t">
            <a:spAutoFit/>
          </a:bodyPr>
          <a:lstStyle/>
          <a:p>
            <a:pPr algn="l">
              <a:lnSpc>
                <a:spcPts val="3080"/>
              </a:lnSpc>
              <a:spcBef>
                <a:spcPct val="0"/>
              </a:spcBef>
            </a:pPr>
            <a:r>
              <a:rPr lang="en-US" sz="2200" b="1" i="1">
                <a:solidFill>
                  <a:srgbClr val="000000"/>
                </a:solidFill>
                <a:latin typeface="Montserrat Bold Italics"/>
                <a:ea typeface="Montserrat Bold Italics"/>
                <a:cs typeface="Montserrat Bold Italics"/>
                <a:sym typeface="Montserrat Bold Italics"/>
              </a:rPr>
              <a:t>Author:</a:t>
            </a:r>
          </a:p>
        </p:txBody>
      </p:sp>
      <p:sp>
        <p:nvSpPr>
          <p:cNvPr id="18" name="TextBox 18"/>
          <p:cNvSpPr txBox="1"/>
          <p:nvPr/>
        </p:nvSpPr>
        <p:spPr>
          <a:xfrm>
            <a:off x="8604480" y="6718916"/>
            <a:ext cx="1611811" cy="264160"/>
          </a:xfrm>
          <a:prstGeom prst="rect">
            <a:avLst/>
          </a:prstGeom>
        </p:spPr>
        <p:txBody>
          <a:bodyPr lIns="0" tIns="0" rIns="0" bIns="0" rtlCol="0" anchor="t">
            <a:spAutoFit/>
          </a:bodyPr>
          <a:lstStyle/>
          <a:p>
            <a:pPr algn="l">
              <a:lnSpc>
                <a:spcPts val="2239"/>
              </a:lnSpc>
              <a:spcBef>
                <a:spcPct val="0"/>
              </a:spcBef>
            </a:pPr>
            <a:r>
              <a:rPr lang="en-US" sz="1599">
                <a:solidFill>
                  <a:srgbClr val="000000"/>
                </a:solidFill>
                <a:latin typeface="Montserrat"/>
                <a:ea typeface="Montserrat"/>
                <a:cs typeface="Montserrat"/>
                <a:sym typeface="Montserrat"/>
              </a:rPr>
              <a:t>Steven Nguyen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760</Words>
  <Application>Microsoft Office PowerPoint</Application>
  <PresentationFormat>Custom</PresentationFormat>
  <Paragraphs>43</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Montserrat</vt:lpstr>
      <vt:lpstr>Montserrat Bold</vt:lpstr>
      <vt:lpstr>Glacial Indifference</vt:lpstr>
      <vt:lpstr>Montserrat Bold Italics</vt:lpstr>
      <vt:lpstr>Montserrat Italics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Steven_Nguyen_</dc:title>
  <cp:lastModifiedBy>Steven Nguyen</cp:lastModifiedBy>
  <cp:revision>3</cp:revision>
  <dcterms:created xsi:type="dcterms:W3CDTF">2006-08-16T00:00:00Z</dcterms:created>
  <dcterms:modified xsi:type="dcterms:W3CDTF">2025-11-06T04:58:54Z</dcterms:modified>
  <dc:identifier>DAG34fB_iic</dc:identifier>
</cp:coreProperties>
</file>